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4" r:id="rId6"/>
    <p:sldId id="265" r:id="rId7"/>
    <p:sldId id="266" r:id="rId8"/>
    <p:sldId id="267" r:id="rId9"/>
    <p:sldId id="269" r:id="rId10"/>
  </p:sldIdLst>
  <p:sldSz cx="7772400" cy="10058400"/>
  <p:notesSz cx="9239250" cy="695325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B9353D-0958-4219-BFB4-3E7046E5CA39}" v="11" dt="2026-05-13T01:22:48.4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6" autoAdjust="0"/>
    <p:restoredTop sz="94660"/>
  </p:normalViewPr>
  <p:slideViewPr>
    <p:cSldViewPr snapToGrid="0">
      <p:cViewPr varScale="1">
        <p:scale>
          <a:sx n="103" d="100"/>
          <a:sy n="103" d="100"/>
        </p:scale>
        <p:origin x="6618"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186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83024" tIns="41512" rIns="83024" bIns="41512"/>
          <a:lstStyle/>
          <a:p>
            <a:endParaRPr lang="en-US" dirty="0"/>
          </a:p>
        </p:txBody>
      </p:sp>
      <p:sp>
        <p:nvSpPr>
          <p:cNvPr id="4" name="Slide Number Placeholder 3"/>
          <p:cNvSpPr>
            <a:spLocks noGrp="1"/>
          </p:cNvSpPr>
          <p:nvPr>
            <p:ph type="sldNum" sz="quarter" idx="4294967295"/>
          </p:nvPr>
        </p:nvSpPr>
        <p:spPr/>
        <p:txBody>
          <a:bodyPr lIns="83024" tIns="41512" rIns="83024" bIns="41512"/>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83024" tIns="41512" rIns="83024" bIns="41512"/>
          <a:lstStyle/>
          <a:p>
            <a:endParaRPr lang="en-US" dirty="0"/>
          </a:p>
        </p:txBody>
      </p:sp>
      <p:sp>
        <p:nvSpPr>
          <p:cNvPr id="4" name="Slide Number Placeholder 3"/>
          <p:cNvSpPr>
            <a:spLocks noGrp="1"/>
          </p:cNvSpPr>
          <p:nvPr>
            <p:ph type="sldNum" sz="quarter" idx="4294967295"/>
          </p:nvPr>
        </p:nvSpPr>
        <p:spPr/>
        <p:txBody>
          <a:bodyPr lIns="83024" tIns="41512" rIns="83024" bIns="41512"/>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83024" tIns="41512" rIns="83024" bIns="41512"/>
          <a:lstStyle/>
          <a:p>
            <a:endParaRPr lang="en-US" dirty="0"/>
          </a:p>
        </p:txBody>
      </p:sp>
      <p:sp>
        <p:nvSpPr>
          <p:cNvPr id="4" name="Slide Number Placeholder 3"/>
          <p:cNvSpPr>
            <a:spLocks noGrp="1"/>
          </p:cNvSpPr>
          <p:nvPr>
            <p:ph type="sldNum" sz="quarter" idx="4294967295"/>
          </p:nvPr>
        </p:nvSpPr>
        <p:spPr/>
        <p:txBody>
          <a:bodyPr lIns="83024" tIns="41512" rIns="83024" bIns="41512"/>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83024" tIns="41512" rIns="83024" bIns="41512"/>
          <a:lstStyle/>
          <a:p>
            <a:endParaRPr lang="en-US" dirty="0"/>
          </a:p>
        </p:txBody>
      </p:sp>
      <p:sp>
        <p:nvSpPr>
          <p:cNvPr id="4" name="Slide Number Placeholder 3"/>
          <p:cNvSpPr>
            <a:spLocks noGrp="1"/>
          </p:cNvSpPr>
          <p:nvPr>
            <p:ph type="sldNum" sz="quarter" idx="4294967295"/>
          </p:nvPr>
        </p:nvSpPr>
        <p:spPr/>
        <p:txBody>
          <a:bodyPr lIns="83024" tIns="41512" rIns="83024" bIns="41512"/>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lIns="83024" tIns="41512" rIns="83024" bIns="41512"/>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lIns="83024" tIns="41512" rIns="83024" bIns="41512"/>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lIns="83024" tIns="41512" rIns="83024" bIns="41512"/>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lIns="83024" tIns="41512" rIns="83024" bIns="41512"/>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3024" tIns="41512" rIns="83024" bIns="41512"/>
          <a:lstStyle/>
          <a:p>
            <a:endParaRPr lang="en-US" dirty="0"/>
          </a:p>
        </p:txBody>
      </p:sp>
      <p:sp>
        <p:nvSpPr>
          <p:cNvPr id="4" name="Slide Number Placeholder 3"/>
          <p:cNvSpPr>
            <a:spLocks noGrp="1"/>
          </p:cNvSpPr>
          <p:nvPr>
            <p:ph type="sldNum" sz="quarter" idx="10"/>
          </p:nvPr>
        </p:nvSpPr>
        <p:spPr/>
        <p:txBody>
          <a:bodyPr lIns="83024" tIns="41512" rIns="83024" bIns="41512"/>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jpeg"/><Relationship Id="rId7"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7.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2.jpeg"/><Relationship Id="rId7" Type="http://schemas.openxmlformats.org/officeDocument/2006/relationships/image" Target="../media/image26.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8.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image" Target="../media/image28.jpeg"/><Relationship Id="rId7" Type="http://schemas.openxmlformats.org/officeDocument/2006/relationships/image" Target="../media/image32.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agent/turn2/workspace/images/pristine-white-sand-beach-in-naples-florida-crysta_2026-05-12T19-49-18_image_DAS_0.jpg"/>
          <p:cNvPicPr>
            <a:picLocks noChangeAspect="1"/>
          </p:cNvPicPr>
          <p:nvPr/>
        </p:nvPicPr>
        <p:blipFill>
          <a:blip r:embed="rId3"/>
          <a:srcRect t="12941" b="12941"/>
          <a:stretch/>
        </p:blipFill>
        <p:spPr>
          <a:xfrm>
            <a:off x="0" y="0"/>
            <a:ext cx="7772400" cy="3840480"/>
          </a:xfrm>
          <a:prstGeom prst="rect">
            <a:avLst/>
          </a:prstGeom>
        </p:spPr>
      </p:pic>
      <p:sp>
        <p:nvSpPr>
          <p:cNvPr id="3" name="Shape 0"/>
          <p:cNvSpPr/>
          <p:nvPr/>
        </p:nvSpPr>
        <p:spPr>
          <a:xfrm>
            <a:off x="0" y="0"/>
            <a:ext cx="7772400" cy="3840480"/>
          </a:xfrm>
          <a:prstGeom prst="rect">
            <a:avLst/>
          </a:prstGeom>
          <a:solidFill>
            <a:srgbClr val="153D63">
              <a:alpha val="60000"/>
            </a:srgbClr>
          </a:solidFill>
          <a:ln/>
        </p:spPr>
        <p:txBody>
          <a:bodyPr/>
          <a:lstStyle/>
          <a:p>
            <a:endParaRPr lang="en-US"/>
          </a:p>
        </p:txBody>
      </p:sp>
      <p:sp>
        <p:nvSpPr>
          <p:cNvPr id="4" name="Text 1"/>
          <p:cNvSpPr/>
          <p:nvPr/>
        </p:nvSpPr>
        <p:spPr>
          <a:xfrm>
            <a:off x="640079" y="1211115"/>
            <a:ext cx="6492240" cy="1005840"/>
          </a:xfrm>
          <a:prstGeom prst="rect">
            <a:avLst/>
          </a:prstGeom>
          <a:noFill/>
          <a:ln/>
        </p:spPr>
        <p:txBody>
          <a:bodyPr wrap="square" lIns="0" tIns="0" rIns="0" bIns="0" rtlCol="0" anchor="ctr"/>
          <a:lstStyle/>
          <a:p>
            <a:pPr marL="0" indent="0" algn="ctr">
              <a:buNone/>
            </a:pPr>
            <a:r>
              <a:rPr lang="en-US" sz="4400" b="1" dirty="0">
                <a:solidFill>
                  <a:srgbClr val="FFFFFF"/>
                </a:solidFill>
                <a:latin typeface="Georgia" pitchFamily="34" charset="0"/>
              </a:rPr>
              <a:t>Why work with us</a:t>
            </a:r>
            <a:endParaRPr lang="en-US" sz="4400" dirty="0"/>
          </a:p>
        </p:txBody>
      </p:sp>
      <p:sp>
        <p:nvSpPr>
          <p:cNvPr id="5" name="Text 2"/>
          <p:cNvSpPr/>
          <p:nvPr/>
        </p:nvSpPr>
        <p:spPr>
          <a:xfrm>
            <a:off x="640079" y="1920240"/>
            <a:ext cx="6492240" cy="548640"/>
          </a:xfrm>
          <a:prstGeom prst="rect">
            <a:avLst/>
          </a:prstGeom>
          <a:noFill/>
          <a:ln/>
        </p:spPr>
        <p:txBody>
          <a:bodyPr wrap="square" lIns="0" tIns="0" rIns="0" bIns="0" rtlCol="0" anchor="ctr"/>
          <a:lstStyle/>
          <a:p>
            <a:pPr marL="0" indent="0" algn="ctr">
              <a:buNone/>
            </a:pPr>
            <a:r>
              <a:rPr lang="en-US" sz="1400" i="1" dirty="0">
                <a:solidFill>
                  <a:srgbClr val="FFFFFF"/>
                </a:solidFill>
                <a:latin typeface="Georgia" panose="02040502050405020303" pitchFamily="18" charset="0"/>
                <a:ea typeface="Calibri" pitchFamily="34" charset="-122"/>
                <a:cs typeface="Calibri" pitchFamily="34" charset="-120"/>
              </a:rPr>
              <a:t>Decades of Experience. Representing Naples' Most Exceptional Properties.</a:t>
            </a:r>
            <a:endParaRPr lang="en-US" sz="1400" i="1" dirty="0">
              <a:latin typeface="Georgia" panose="02040502050405020303" pitchFamily="18" charset="0"/>
            </a:endParaRPr>
          </a:p>
        </p:txBody>
      </p:sp>
      <p:pic>
        <p:nvPicPr>
          <p:cNvPr id="20" name="Headshot Paul"/>
          <p:cNvPicPr>
            <a:picLocks noChangeAspect="1"/>
          </p:cNvPicPr>
          <p:nvPr/>
        </p:nvPicPr>
        <p:blipFill>
          <a:blip r:embed="rId4"/>
          <a:srcRect/>
          <a:stretch/>
        </p:blipFill>
        <p:spPr>
          <a:xfrm>
            <a:off x="1273414" y="2971800"/>
            <a:ext cx="897411" cy="1097280"/>
          </a:xfrm>
          <a:prstGeom prst="rect">
            <a:avLst/>
          </a:prstGeom>
          <a:ln w="19050">
            <a:solidFill>
              <a:schemeClr val="bg1"/>
            </a:solidFill>
          </a:ln>
          <a:effectLst/>
        </p:spPr>
      </p:pic>
      <p:pic>
        <p:nvPicPr>
          <p:cNvPr id="21" name="Headshot Peter"/>
          <p:cNvPicPr>
            <a:picLocks noChangeAspect="1"/>
          </p:cNvPicPr>
          <p:nvPr/>
        </p:nvPicPr>
        <p:blipFill>
          <a:blip r:embed="rId5"/>
          <a:srcRect/>
          <a:stretch/>
        </p:blipFill>
        <p:spPr>
          <a:xfrm>
            <a:off x="3435387" y="2971800"/>
            <a:ext cx="901625" cy="1097280"/>
          </a:xfrm>
          <a:prstGeom prst="rect">
            <a:avLst/>
          </a:prstGeom>
          <a:ln w="19050">
            <a:solidFill>
              <a:schemeClr val="bg1"/>
            </a:solidFill>
          </a:ln>
          <a:effectLst/>
        </p:spPr>
      </p:pic>
      <p:pic>
        <p:nvPicPr>
          <p:cNvPr id="22" name="Headshot Michael"/>
          <p:cNvPicPr>
            <a:picLocks noChangeAspect="1"/>
          </p:cNvPicPr>
          <p:nvPr/>
        </p:nvPicPr>
        <p:blipFill>
          <a:blip r:embed="rId6"/>
          <a:srcRect/>
          <a:stretch/>
        </p:blipFill>
        <p:spPr>
          <a:xfrm>
            <a:off x="5600937" y="2971800"/>
            <a:ext cx="898686" cy="1097280"/>
          </a:xfrm>
          <a:prstGeom prst="rect">
            <a:avLst/>
          </a:prstGeom>
          <a:ln w="19050">
            <a:solidFill>
              <a:schemeClr val="bg1"/>
            </a:solidFill>
          </a:ln>
          <a:effectLst/>
        </p:spPr>
      </p:pic>
      <p:sp>
        <p:nvSpPr>
          <p:cNvPr id="6" name="Text 3"/>
          <p:cNvSpPr/>
          <p:nvPr/>
        </p:nvSpPr>
        <p:spPr>
          <a:xfrm>
            <a:off x="571500" y="4206240"/>
            <a:ext cx="2301240" cy="411480"/>
          </a:xfrm>
          <a:prstGeom prst="rect">
            <a:avLst/>
          </a:prstGeom>
          <a:noFill/>
          <a:ln/>
        </p:spPr>
        <p:txBody>
          <a:bodyPr wrap="square" lIns="0" tIns="0" rIns="0" bIns="0" rtlCol="0" anchor="ctr"/>
          <a:lstStyle/>
          <a:p>
            <a:pPr marL="0" indent="0" algn="ctr">
              <a:buNone/>
            </a:pPr>
            <a:r>
              <a:rPr lang="en-US" sz="1500" b="1" dirty="0">
                <a:solidFill>
                  <a:srgbClr val="153D63"/>
                </a:solidFill>
                <a:latin typeface="Georgia" pitchFamily="34" charset="0"/>
                <a:ea typeface="Georgia" pitchFamily="34" charset="-122"/>
                <a:cs typeface="Georgia" pitchFamily="34" charset="-120"/>
              </a:rPr>
              <a:t>Paul Arpin</a:t>
            </a:r>
            <a:endParaRPr lang="en-US" sz="1500" dirty="0"/>
          </a:p>
        </p:txBody>
      </p:sp>
      <p:sp>
        <p:nvSpPr>
          <p:cNvPr id="8" name="Text 5"/>
          <p:cNvSpPr/>
          <p:nvPr/>
        </p:nvSpPr>
        <p:spPr>
          <a:xfrm>
            <a:off x="2735580" y="4206240"/>
            <a:ext cx="2301240" cy="411480"/>
          </a:xfrm>
          <a:prstGeom prst="rect">
            <a:avLst/>
          </a:prstGeom>
          <a:noFill/>
          <a:ln/>
        </p:spPr>
        <p:txBody>
          <a:bodyPr wrap="square" lIns="0" tIns="0" rIns="0" bIns="0" rtlCol="0" anchor="ctr"/>
          <a:lstStyle/>
          <a:p>
            <a:pPr marL="0" indent="0" algn="ctr">
              <a:buNone/>
            </a:pPr>
            <a:r>
              <a:rPr lang="en-US" sz="1500" b="1" dirty="0">
                <a:solidFill>
                  <a:srgbClr val="153D63"/>
                </a:solidFill>
                <a:latin typeface="Georgia" pitchFamily="34" charset="0"/>
                <a:ea typeface="Georgia" pitchFamily="34" charset="-122"/>
                <a:cs typeface="Georgia" pitchFamily="34" charset="-120"/>
              </a:rPr>
              <a:t>Peter Reppucci</a:t>
            </a:r>
            <a:endParaRPr lang="en-US" sz="1500" dirty="0"/>
          </a:p>
        </p:txBody>
      </p:sp>
      <p:sp>
        <p:nvSpPr>
          <p:cNvPr id="10" name="Text 7"/>
          <p:cNvSpPr/>
          <p:nvPr/>
        </p:nvSpPr>
        <p:spPr>
          <a:xfrm>
            <a:off x="4899660" y="4206240"/>
            <a:ext cx="2301240" cy="411480"/>
          </a:xfrm>
          <a:prstGeom prst="rect">
            <a:avLst/>
          </a:prstGeom>
          <a:noFill/>
          <a:ln/>
        </p:spPr>
        <p:txBody>
          <a:bodyPr wrap="square" lIns="0" tIns="0" rIns="0" bIns="0" rtlCol="0" anchor="ctr"/>
          <a:lstStyle/>
          <a:p>
            <a:pPr marL="0" indent="0" algn="ctr">
              <a:buNone/>
            </a:pPr>
            <a:r>
              <a:rPr lang="en-US" sz="1500" b="1" dirty="0">
                <a:solidFill>
                  <a:srgbClr val="153D63"/>
                </a:solidFill>
                <a:latin typeface="Georgia" pitchFamily="34" charset="0"/>
                <a:ea typeface="Georgia" pitchFamily="34" charset="-122"/>
                <a:cs typeface="Georgia" pitchFamily="34" charset="-120"/>
              </a:rPr>
              <a:t>Michael Giacalone</a:t>
            </a:r>
            <a:endParaRPr lang="en-US" sz="1500" dirty="0"/>
          </a:p>
        </p:txBody>
      </p:sp>
      <p:sp>
        <p:nvSpPr>
          <p:cNvPr id="13" name="Text 10"/>
          <p:cNvSpPr/>
          <p:nvPr/>
        </p:nvSpPr>
        <p:spPr>
          <a:xfrm>
            <a:off x="640079" y="4938691"/>
            <a:ext cx="6492240" cy="365760"/>
          </a:xfrm>
          <a:prstGeom prst="rect">
            <a:avLst/>
          </a:prstGeom>
          <a:noFill/>
          <a:ln/>
        </p:spPr>
        <p:txBody>
          <a:bodyPr wrap="square" lIns="0" tIns="0" rIns="0" bIns="0" rtlCol="0" anchor="ctr"/>
          <a:lstStyle/>
          <a:p>
            <a:pPr marL="0" indent="0" algn="ctr">
              <a:buNone/>
            </a:pPr>
            <a:r>
              <a:rPr lang="en-US" sz="2400" b="1" i="1" dirty="0">
                <a:solidFill>
                  <a:srgbClr val="153D63"/>
                </a:solidFill>
                <a:latin typeface="Georgia" pitchFamily="34" charset="0"/>
                <a:ea typeface="Georgia" pitchFamily="34" charset="-122"/>
                <a:cs typeface="Georgia" pitchFamily="34" charset="-120"/>
              </a:rPr>
              <a:t>Local Expertise. Global Connections.</a:t>
            </a:r>
            <a:endParaRPr lang="en-US" sz="2400" dirty="0"/>
          </a:p>
        </p:txBody>
      </p:sp>
      <p:sp>
        <p:nvSpPr>
          <p:cNvPr id="14" name="Text 11"/>
          <p:cNvSpPr/>
          <p:nvPr/>
        </p:nvSpPr>
        <p:spPr>
          <a:xfrm>
            <a:off x="413345" y="5119709"/>
            <a:ext cx="6945708" cy="2565918"/>
          </a:xfrm>
          <a:prstGeom prst="rect">
            <a:avLst/>
          </a:prstGeom>
          <a:noFill/>
          <a:ln/>
        </p:spPr>
        <p:txBody>
          <a:bodyPr wrap="square" lIns="0" tIns="0" rIns="0" bIns="0" rtlCol="0" anchor="ctr"/>
          <a:lstStyle/>
          <a:p>
            <a:pPr algn="just"/>
            <a:r>
              <a:rPr lang="en-US" sz="1400" dirty="0">
                <a:solidFill>
                  <a:schemeClr val="bg1">
                    <a:lumMod val="50000"/>
                  </a:schemeClr>
                </a:solidFill>
                <a:latin typeface="Aptos Display" panose="020B0004020202020204" pitchFamily="34" charset="0"/>
              </a:rPr>
              <a:t>Together, Paul Arpin, Peter Reppucci, and Michael Giacalone represent the pinnacle of luxury real estate service in Naples, Florida. Blending decades of combined experience, record-breaking results, and unmatched local insight, this team delivers a concierge-level experience for buyers and sellers of exceptional properties.</a:t>
            </a:r>
          </a:p>
          <a:p>
            <a:pPr algn="just"/>
            <a:endParaRPr lang="en-US" sz="1400" dirty="0">
              <a:solidFill>
                <a:schemeClr val="bg1">
                  <a:lumMod val="50000"/>
                </a:schemeClr>
              </a:solidFill>
              <a:latin typeface="Aptos Display" panose="020B0004020202020204" pitchFamily="34" charset="0"/>
            </a:endParaRPr>
          </a:p>
          <a:p>
            <a:pPr algn="just"/>
            <a:r>
              <a:rPr lang="en-US" sz="1400" dirty="0">
                <a:solidFill>
                  <a:schemeClr val="bg1">
                    <a:lumMod val="50000"/>
                  </a:schemeClr>
                </a:solidFill>
                <a:latin typeface="Aptos Display" panose="020B0004020202020204" pitchFamily="34" charset="0"/>
              </a:rPr>
              <a:t>As part of Premier Sotheby’s International Realty, these three unite local expertise with global reach. Whether representing a Gulf-front estate, a bespoke new build, or a treasured family residence, the team is dedicated to excellence—defined by integrity, discretion, and truly exceptional results.</a:t>
            </a:r>
          </a:p>
        </p:txBody>
      </p:sp>
      <p:sp>
        <p:nvSpPr>
          <p:cNvPr id="15" name="Text 12"/>
          <p:cNvSpPr/>
          <p:nvPr/>
        </p:nvSpPr>
        <p:spPr>
          <a:xfrm>
            <a:off x="640079" y="9276651"/>
            <a:ext cx="6492240" cy="461554"/>
          </a:xfrm>
          <a:prstGeom prst="rect">
            <a:avLst/>
          </a:prstGeom>
          <a:noFill/>
          <a:ln/>
        </p:spPr>
        <p:txBody>
          <a:bodyPr wrap="square" lIns="0" tIns="0" rIns="0" bIns="0" rtlCol="0" anchor="ctr"/>
          <a:lstStyle/>
          <a:p>
            <a:pPr marL="0" indent="0" algn="ctr">
              <a:buNone/>
            </a:pPr>
            <a:r>
              <a:rPr lang="en-US" sz="1600" dirty="0">
                <a:solidFill>
                  <a:schemeClr val="bg1">
                    <a:lumMod val="50000"/>
                  </a:schemeClr>
                </a:solidFill>
                <a:latin typeface="Aptos Display" panose="020B0004020202020204" pitchFamily="34" charset="0"/>
                <a:ea typeface="Calibri" pitchFamily="34" charset="-122"/>
                <a:cs typeface="Calibri" pitchFamily="34" charset="-120"/>
              </a:rPr>
              <a:t>390 Broad Ave S, Naples, FL 34102  |  239.431.0321 | www.ARGnaples.com</a:t>
            </a:r>
            <a:endParaRPr lang="en-US" sz="1600" dirty="0">
              <a:solidFill>
                <a:schemeClr val="bg1">
                  <a:lumMod val="50000"/>
                </a:schemeClr>
              </a:solidFill>
              <a:latin typeface="Aptos Display" panose="020B0004020202020204" pitchFamily="34" charset="0"/>
            </a:endParaRPr>
          </a:p>
        </p:txBody>
      </p:sp>
      <p:pic>
        <p:nvPicPr>
          <p:cNvPr id="16" name="Image 1"/>
          <p:cNvPicPr>
            <a:picLocks noChangeAspect="1"/>
          </p:cNvPicPr>
          <p:nvPr/>
        </p:nvPicPr>
        <p:blipFill>
          <a:blip r:embed="rId7"/>
          <a:srcRect/>
          <a:stretch/>
        </p:blipFill>
        <p:spPr>
          <a:xfrm>
            <a:off x="1672801" y="7811201"/>
            <a:ext cx="4377479" cy="1339875"/>
          </a:xfrm>
          <a:prstGeom prst="rect">
            <a:avLst/>
          </a:prstGeom>
        </p:spPr>
      </p:pic>
      <p:sp>
        <p:nvSpPr>
          <p:cNvPr id="18" name="Rectangle 17">
            <a:extLst>
              <a:ext uri="{FF2B5EF4-FFF2-40B4-BE49-F238E27FC236}">
                <a16:creationId xmlns:a16="http://schemas.microsoft.com/office/drawing/2014/main" id="{2FAFA205-BE8F-B551-45B8-5D7FF3CCCE30}"/>
              </a:ext>
            </a:extLst>
          </p:cNvPr>
          <p:cNvSpPr/>
          <p:nvPr/>
        </p:nvSpPr>
        <p:spPr>
          <a:xfrm>
            <a:off x="161925" y="152400"/>
            <a:ext cx="7448550" cy="97536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2743200" cy="3291840"/>
          </a:xfrm>
          <a:prstGeom prst="rect">
            <a:avLst/>
          </a:prstGeom>
          <a:solidFill>
            <a:srgbClr val="F5F5F5"/>
          </a:solidFill>
          <a:ln/>
        </p:spPr>
        <p:txBody>
          <a:bodyPr/>
          <a:lstStyle/>
          <a:p>
            <a:endParaRPr lang="en-US"/>
          </a:p>
        </p:txBody>
      </p:sp>
      <p:pic>
        <p:nvPicPr>
          <p:cNvPr id="3" name="Image 0"/>
          <p:cNvPicPr>
            <a:picLocks noChangeAspect="1"/>
          </p:cNvPicPr>
          <p:nvPr/>
        </p:nvPicPr>
        <p:blipFill>
          <a:blip r:embed="rId3"/>
          <a:srcRect t="20" b="20"/>
          <a:stretch/>
        </p:blipFill>
        <p:spPr>
          <a:xfrm>
            <a:off x="777240" y="640080"/>
            <a:ext cx="2468880" cy="3108960"/>
          </a:xfrm>
          <a:prstGeom prst="rect">
            <a:avLst/>
          </a:prstGeom>
        </p:spPr>
      </p:pic>
      <p:sp>
        <p:nvSpPr>
          <p:cNvPr id="4" name="Text 1"/>
          <p:cNvSpPr/>
          <p:nvPr/>
        </p:nvSpPr>
        <p:spPr>
          <a:xfrm>
            <a:off x="3749040" y="822960"/>
            <a:ext cx="3383280" cy="457200"/>
          </a:xfrm>
          <a:prstGeom prst="rect">
            <a:avLst/>
          </a:prstGeom>
          <a:noFill/>
          <a:ln/>
        </p:spPr>
        <p:txBody>
          <a:bodyPr wrap="square" lIns="0" tIns="0" rIns="0" bIns="0" rtlCol="0" anchor="ctr"/>
          <a:lstStyle/>
          <a:p>
            <a:pPr marL="0" indent="0" algn="l">
              <a:buNone/>
            </a:pPr>
            <a:r>
              <a:rPr lang="en-US" sz="2400" b="1" dirty="0">
                <a:solidFill>
                  <a:srgbClr val="153D63"/>
                </a:solidFill>
                <a:latin typeface="Georgia" pitchFamily="34" charset="0"/>
                <a:ea typeface="Georgia" pitchFamily="34" charset="-122"/>
                <a:cs typeface="Georgia" pitchFamily="34" charset="-120"/>
              </a:rPr>
              <a:t>Paul Arpin</a:t>
            </a:r>
            <a:endParaRPr lang="en-US" sz="2400" dirty="0"/>
          </a:p>
        </p:txBody>
      </p:sp>
      <p:sp>
        <p:nvSpPr>
          <p:cNvPr id="5" name="Text 2"/>
          <p:cNvSpPr/>
          <p:nvPr/>
        </p:nvSpPr>
        <p:spPr>
          <a:xfrm>
            <a:off x="3749040" y="1325880"/>
            <a:ext cx="3383280" cy="274320"/>
          </a:xfrm>
          <a:prstGeom prst="rect">
            <a:avLst/>
          </a:prstGeom>
          <a:noFill/>
          <a:ln/>
        </p:spPr>
        <p:txBody>
          <a:bodyPr wrap="square" lIns="0" tIns="0" rIns="0" bIns="0" rtlCol="0" anchor="ctr"/>
          <a:lstStyle/>
          <a:p>
            <a:pPr marL="0" indent="0" algn="l">
              <a:buNone/>
            </a:pPr>
            <a:r>
              <a:rPr lang="en-US" sz="1200" kern="0" spc="200" dirty="0">
                <a:solidFill>
                  <a:schemeClr val="bg1">
                    <a:lumMod val="50000"/>
                  </a:schemeClr>
                </a:solidFill>
                <a:latin typeface="Calibri" pitchFamily="34" charset="0"/>
                <a:ea typeface="Calibri" pitchFamily="34" charset="-122"/>
                <a:cs typeface="Calibri" pitchFamily="34" charset="-120"/>
              </a:rPr>
              <a:t>GLOBAL REAL ESTATE ADVISOR</a:t>
            </a:r>
            <a:endParaRPr lang="en-US" sz="1200" dirty="0">
              <a:solidFill>
                <a:schemeClr val="bg1">
                  <a:lumMod val="50000"/>
                </a:schemeClr>
              </a:solidFill>
            </a:endParaRPr>
          </a:p>
        </p:txBody>
      </p:sp>
      <p:sp>
        <p:nvSpPr>
          <p:cNvPr id="6" name="Text 3"/>
          <p:cNvSpPr/>
          <p:nvPr/>
        </p:nvSpPr>
        <p:spPr>
          <a:xfrm>
            <a:off x="3749040" y="1920240"/>
            <a:ext cx="3383280" cy="1097280"/>
          </a:xfrm>
          <a:prstGeom prst="rect">
            <a:avLst/>
          </a:prstGeom>
          <a:noFill/>
          <a:ln/>
        </p:spPr>
        <p:txBody>
          <a:bodyPr wrap="square" lIns="0" tIns="0" rIns="0" bIns="0" rtlCol="0" anchor="ctr"/>
          <a:lstStyle/>
          <a:p>
            <a:pPr marL="0" indent="0" algn="l">
              <a:lnSpc>
                <a:spcPct val="140000"/>
              </a:lnSpc>
              <a:buNone/>
            </a:pPr>
            <a:r>
              <a:rPr lang="en-US" sz="1200" b="1" dirty="0">
                <a:solidFill>
                  <a:schemeClr val="bg1">
                    <a:lumMod val="50000"/>
                  </a:schemeClr>
                </a:solidFill>
                <a:latin typeface="Aptos Light" panose="020B0004020202020204" pitchFamily="34" charset="0"/>
                <a:ea typeface="Calibri" pitchFamily="34" charset="-122"/>
                <a:cs typeface="Calibri" pitchFamily="34" charset="-120"/>
              </a:rPr>
              <a:t>C.239.877.4450</a:t>
            </a:r>
          </a:p>
          <a:p>
            <a:pPr marL="0" indent="0" algn="l">
              <a:lnSpc>
                <a:spcPct val="140000"/>
              </a:lnSpc>
              <a:buNone/>
            </a:pPr>
            <a:r>
              <a:rPr lang="en-US" sz="1200" dirty="0">
                <a:solidFill>
                  <a:schemeClr val="bg1">
                    <a:lumMod val="50000"/>
                  </a:schemeClr>
                </a:solidFill>
                <a:latin typeface="Aptos Light" panose="020B0004020202020204" pitchFamily="34" charset="0"/>
                <a:ea typeface="Calibri" pitchFamily="34" charset="-122"/>
                <a:cs typeface="Calibri" pitchFamily="34" charset="-120"/>
              </a:rPr>
              <a:t>Paul.Arpin@PremierSIR.com</a:t>
            </a:r>
          </a:p>
          <a:p>
            <a:pPr marL="0" indent="0" algn="l">
              <a:lnSpc>
                <a:spcPct val="140000"/>
              </a:lnSpc>
              <a:buNone/>
            </a:pPr>
            <a:r>
              <a:rPr lang="en-US" sz="1200" dirty="0">
                <a:solidFill>
                  <a:schemeClr val="bg1">
                    <a:lumMod val="50000"/>
                  </a:schemeClr>
                </a:solidFill>
                <a:latin typeface="Aptos Light" panose="020B0004020202020204" pitchFamily="34" charset="0"/>
                <a:ea typeface="Calibri" pitchFamily="34" charset="-122"/>
                <a:cs typeface="Calibri" pitchFamily="34" charset="-120"/>
              </a:rPr>
              <a:t>www.ARGnaples.com</a:t>
            </a:r>
          </a:p>
          <a:p>
            <a:pPr marL="0" indent="0" algn="l">
              <a:lnSpc>
                <a:spcPct val="140000"/>
              </a:lnSpc>
              <a:buNone/>
            </a:pPr>
            <a:r>
              <a:rPr lang="en-US" sz="1200" dirty="0">
                <a:solidFill>
                  <a:schemeClr val="bg1">
                    <a:lumMod val="50000"/>
                  </a:schemeClr>
                </a:solidFill>
                <a:latin typeface="Aptos Light" panose="020B0004020202020204" pitchFamily="34" charset="0"/>
                <a:ea typeface="Calibri" pitchFamily="34" charset="-122"/>
                <a:cs typeface="Calibri" pitchFamily="34" charset="-120"/>
              </a:rPr>
              <a:t>Premier Sotheby’s</a:t>
            </a:r>
            <a:r>
              <a:rPr lang="en-US" sz="1200" dirty="0">
                <a:solidFill>
                  <a:schemeClr val="bg1">
                    <a:lumMod val="50000"/>
                  </a:schemeClr>
                </a:solidFill>
                <a:latin typeface="Aptos Light" panose="020B0004020202020204" pitchFamily="34" charset="0"/>
              </a:rPr>
              <a:t> </a:t>
            </a:r>
            <a:r>
              <a:rPr lang="en-US" sz="1200" dirty="0">
                <a:solidFill>
                  <a:schemeClr val="bg1">
                    <a:lumMod val="50000"/>
                  </a:schemeClr>
                </a:solidFill>
                <a:latin typeface="Aptos Light" panose="020B0004020202020204" pitchFamily="34" charset="0"/>
                <a:ea typeface="Calibri" pitchFamily="34" charset="-122"/>
                <a:cs typeface="Calibri" pitchFamily="34" charset="-120"/>
              </a:rPr>
              <a:t>International Realty</a:t>
            </a:r>
            <a:endParaRPr lang="en-US" sz="1200" dirty="0">
              <a:solidFill>
                <a:schemeClr val="bg1">
                  <a:lumMod val="50000"/>
                </a:schemeClr>
              </a:solidFill>
              <a:latin typeface="Aptos Light" panose="020B0004020202020204" pitchFamily="34" charset="0"/>
            </a:endParaRPr>
          </a:p>
          <a:p>
            <a:pPr marL="0" indent="0" algn="l">
              <a:lnSpc>
                <a:spcPct val="140000"/>
              </a:lnSpc>
              <a:buNone/>
            </a:pPr>
            <a:r>
              <a:rPr lang="en-US" sz="1200" dirty="0">
                <a:solidFill>
                  <a:schemeClr val="bg1">
                    <a:lumMod val="50000"/>
                  </a:schemeClr>
                </a:solidFill>
                <a:latin typeface="Aptos Light" panose="020B0004020202020204" pitchFamily="34" charset="0"/>
                <a:ea typeface="Calibri" pitchFamily="34" charset="-122"/>
                <a:cs typeface="Calibri" pitchFamily="34" charset="-120"/>
              </a:rPr>
              <a:t>Broad Avenue Office</a:t>
            </a:r>
            <a:endParaRPr lang="en-US" sz="1200" dirty="0">
              <a:solidFill>
                <a:schemeClr val="bg1">
                  <a:lumMod val="50000"/>
                </a:schemeClr>
              </a:solidFill>
              <a:latin typeface="Aptos Light" panose="020B0004020202020204" pitchFamily="34" charset="0"/>
            </a:endParaRPr>
          </a:p>
          <a:p>
            <a:pPr marL="0" indent="0" algn="l">
              <a:lnSpc>
                <a:spcPct val="140000"/>
              </a:lnSpc>
              <a:buNone/>
            </a:pPr>
            <a:r>
              <a:rPr lang="en-US" sz="1200" dirty="0">
                <a:solidFill>
                  <a:schemeClr val="bg1">
                    <a:lumMod val="50000"/>
                  </a:schemeClr>
                </a:solidFill>
                <a:latin typeface="Aptos Light" panose="020B0004020202020204" pitchFamily="34" charset="0"/>
                <a:ea typeface="Calibri" pitchFamily="34" charset="-122"/>
                <a:cs typeface="Calibri" pitchFamily="34" charset="-120"/>
              </a:rPr>
              <a:t>Naples, Florida</a:t>
            </a:r>
            <a:endParaRPr lang="en-US" sz="1200" dirty="0">
              <a:solidFill>
                <a:schemeClr val="bg1">
                  <a:lumMod val="50000"/>
                </a:schemeClr>
              </a:solidFill>
              <a:latin typeface="Aptos Light" panose="020B0004020202020204" pitchFamily="34" charset="0"/>
            </a:endParaRPr>
          </a:p>
        </p:txBody>
      </p:sp>
      <p:sp>
        <p:nvSpPr>
          <p:cNvPr id="7" name="Text 4"/>
          <p:cNvSpPr/>
          <p:nvPr/>
        </p:nvSpPr>
        <p:spPr>
          <a:xfrm>
            <a:off x="640080" y="4206240"/>
            <a:ext cx="6492240" cy="4937760"/>
          </a:xfrm>
          <a:prstGeom prst="rect">
            <a:avLst/>
          </a:prstGeom>
          <a:noFill/>
          <a:ln/>
        </p:spPr>
        <p:txBody>
          <a:bodyPr wrap="square" lIns="0" tIns="0" rIns="0" bIns="0" rtlCol="0" anchor="t"/>
          <a:lstStyle/>
          <a:p>
            <a:pPr marL="0" indent="0" algn="l">
              <a:lnSpc>
                <a:spcPct val="140000"/>
              </a:lnSpc>
              <a:spcAft>
                <a:spcPts val="800"/>
              </a:spcAft>
              <a:buNone/>
            </a:pPr>
            <a:endParaRPr lang="en-US" sz="1150" dirty="0"/>
          </a:p>
        </p:txBody>
      </p:sp>
      <p:sp>
        <p:nvSpPr>
          <p:cNvPr id="11" name="TextBox 10">
            <a:extLst>
              <a:ext uri="{FF2B5EF4-FFF2-40B4-BE49-F238E27FC236}">
                <a16:creationId xmlns:a16="http://schemas.microsoft.com/office/drawing/2014/main" id="{A2323073-5940-3751-FED6-E6741C6328F6}"/>
              </a:ext>
            </a:extLst>
          </p:cNvPr>
          <p:cNvSpPr txBox="1"/>
          <p:nvPr/>
        </p:nvSpPr>
        <p:spPr>
          <a:xfrm>
            <a:off x="565612" y="4114800"/>
            <a:ext cx="6641176" cy="2882840"/>
          </a:xfrm>
          <a:prstGeom prst="rect">
            <a:avLst/>
          </a:prstGeom>
          <a:noFill/>
        </p:spPr>
        <p:txBody>
          <a:bodyPr wrap="square">
            <a:spAutoFit/>
          </a:bodyPr>
          <a:lstStyle/>
          <a:p>
            <a:pPr marL="0" marR="0" algn="just">
              <a:spcAft>
                <a:spcPts val="800"/>
              </a:spcAft>
              <a:buNone/>
            </a:pPr>
            <a:r>
              <a:rPr lang="en-US" sz="1200" dirty="0">
                <a:solidFill>
                  <a:schemeClr val="bg1">
                    <a:lumMod val="50000"/>
                  </a:schemeClr>
                </a:solidFill>
                <a:effectLst/>
                <a:latin typeface="Aptos Display" panose="020B0004020202020204" pitchFamily="34" charset="0"/>
                <a:ea typeface="Times New Roman" panose="02020603050405020304" pitchFamily="18" charset="0"/>
              </a:rPr>
              <a:t>Originally from Michigan, Paul Arpin brings over 25 years of luxury real estate sales and marketing experience to his role at Premier Sotheby's International Realty. He helps buyers and sellers of world-class, high-end real estate find and sell condominiums and homes from Pelican Bay to Port Royal. Paul found his passion and quickly became one of the top producers in selling apartment buildings in the Chicago marketplace at Inland Real Estate, one of the largest real estate and financial groups in Chicago.</a:t>
            </a:r>
          </a:p>
          <a:p>
            <a:pPr marL="0" marR="0" algn="just">
              <a:spcAft>
                <a:spcPts val="800"/>
              </a:spcAft>
              <a:buNone/>
            </a:pPr>
            <a:r>
              <a:rPr lang="en-US" sz="1200" dirty="0">
                <a:solidFill>
                  <a:schemeClr val="bg1">
                    <a:lumMod val="50000"/>
                  </a:schemeClr>
                </a:solidFill>
                <a:effectLst/>
                <a:latin typeface="Aptos Display" panose="020B0004020202020204" pitchFamily="34" charset="0"/>
                <a:ea typeface="Times New Roman" panose="02020603050405020304" pitchFamily="18" charset="0"/>
              </a:rPr>
              <a:t>Prior to joining Premier Sotheby's International Realty, Paul was an associate at another real estate firm, where he was recognized as one of the best in Southwest Florida. He ranked in the top three percent of all associates in Naples and #4 out of over 650 associates. By providing accurate and up-to-date information, skilled analysis and sound real estate advice, he always represents and serves his customers with excellence, professionalism, honesty and their best interests in mind. Paul is a member of the Naples Area Board of REALTORS®.</a:t>
            </a:r>
          </a:p>
          <a:p>
            <a:pPr marL="0" marR="0" algn="just">
              <a:spcAft>
                <a:spcPts val="800"/>
              </a:spcAft>
              <a:buNone/>
            </a:pPr>
            <a:r>
              <a:rPr lang="en-US" sz="1200" dirty="0">
                <a:solidFill>
                  <a:schemeClr val="bg1">
                    <a:lumMod val="50000"/>
                  </a:schemeClr>
                </a:solidFill>
                <a:effectLst/>
                <a:latin typeface="Aptos Display" panose="020B0004020202020204" pitchFamily="34" charset="0"/>
                <a:ea typeface="Times New Roman" panose="02020603050405020304" pitchFamily="18" charset="0"/>
              </a:rPr>
              <a:t>Paul is passionate about giving back to the local charities through his personal time and contributions. He is a boating enthusiast and enjoys spending time on the wide-open water with his wife, two sons and daughter.</a:t>
            </a:r>
          </a:p>
        </p:txBody>
      </p:sp>
      <p:pic>
        <p:nvPicPr>
          <p:cNvPr id="12" name="Image 0">
            <a:extLst>
              <a:ext uri="{FF2B5EF4-FFF2-40B4-BE49-F238E27FC236}">
                <a16:creationId xmlns:a16="http://schemas.microsoft.com/office/drawing/2014/main" id="{4A927DB8-61E4-283E-94F1-89026F88E299}"/>
              </a:ext>
            </a:extLst>
          </p:cNvPr>
          <p:cNvPicPr>
            <a:picLocks noChangeAspect="1"/>
          </p:cNvPicPr>
          <p:nvPr/>
        </p:nvPicPr>
        <p:blipFill>
          <a:blip r:embed="rId4"/>
          <a:srcRect/>
          <a:stretch/>
        </p:blipFill>
        <p:spPr>
          <a:xfrm>
            <a:off x="640080" y="8701015"/>
            <a:ext cx="2642235" cy="808745"/>
          </a:xfrm>
          <a:prstGeom prst="rect">
            <a:avLst/>
          </a:prstGeom>
        </p:spPr>
      </p:pic>
      <p:sp>
        <p:nvSpPr>
          <p:cNvPr id="8" name="Rectangle 7">
            <a:extLst>
              <a:ext uri="{FF2B5EF4-FFF2-40B4-BE49-F238E27FC236}">
                <a16:creationId xmlns:a16="http://schemas.microsoft.com/office/drawing/2014/main" id="{9A5F945C-4471-626C-D9BC-F63D43487641}"/>
              </a:ext>
            </a:extLst>
          </p:cNvPr>
          <p:cNvSpPr/>
          <p:nvPr/>
        </p:nvSpPr>
        <p:spPr>
          <a:xfrm>
            <a:off x="177282" y="186612"/>
            <a:ext cx="7380514" cy="9685176"/>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2743200" cy="3291840"/>
          </a:xfrm>
          <a:prstGeom prst="rect">
            <a:avLst/>
          </a:prstGeom>
          <a:solidFill>
            <a:srgbClr val="153D63"/>
          </a:solidFill>
          <a:ln/>
        </p:spPr>
        <p:txBody>
          <a:bodyPr/>
          <a:lstStyle/>
          <a:p>
            <a:endParaRPr lang="en-US"/>
          </a:p>
        </p:txBody>
      </p:sp>
      <p:sp>
        <p:nvSpPr>
          <p:cNvPr id="3" name="Text 1"/>
          <p:cNvSpPr/>
          <p:nvPr/>
        </p:nvSpPr>
        <p:spPr>
          <a:xfrm>
            <a:off x="640080" y="548640"/>
            <a:ext cx="2743200" cy="3291840"/>
          </a:xfrm>
          <a:prstGeom prst="rect">
            <a:avLst/>
          </a:prstGeom>
          <a:noFill/>
          <a:ln/>
        </p:spPr>
        <p:txBody>
          <a:bodyPr wrap="square" lIns="0" tIns="0" rIns="0" bIns="0" rtlCol="0" anchor="ctr"/>
          <a:lstStyle/>
          <a:p>
            <a:pPr marL="0" indent="0" algn="ctr">
              <a:buNone/>
            </a:pPr>
            <a:r>
              <a:rPr lang="en-US" sz="8000" dirty="0">
                <a:solidFill>
                  <a:srgbClr val="C5A44E">
                    <a:alpha val="85000"/>
                  </a:srgbClr>
                </a:solidFill>
                <a:latin typeface="Georgia" pitchFamily="34" charset="0"/>
                <a:ea typeface="Georgia" pitchFamily="34" charset="-122"/>
                <a:cs typeface="Georgia" pitchFamily="34" charset="-120"/>
              </a:rPr>
              <a:t>PR</a:t>
            </a:r>
            <a:endParaRPr lang="en-US" sz="8000" dirty="0"/>
          </a:p>
        </p:txBody>
      </p:sp>
      <p:sp>
        <p:nvSpPr>
          <p:cNvPr id="7" name="Text 5"/>
          <p:cNvSpPr/>
          <p:nvPr/>
        </p:nvSpPr>
        <p:spPr>
          <a:xfrm>
            <a:off x="640080" y="4206240"/>
            <a:ext cx="6492240" cy="4937760"/>
          </a:xfrm>
          <a:prstGeom prst="rect">
            <a:avLst/>
          </a:prstGeom>
          <a:noFill/>
          <a:ln/>
        </p:spPr>
        <p:txBody>
          <a:bodyPr wrap="square" lIns="0" tIns="0" rIns="0" bIns="0" rtlCol="0" anchor="t"/>
          <a:lstStyle/>
          <a:p>
            <a:pPr marL="0" indent="0" algn="l">
              <a:lnSpc>
                <a:spcPct val="140000"/>
              </a:lnSpc>
              <a:spcAft>
                <a:spcPts val="800"/>
              </a:spcAft>
              <a:buNone/>
            </a:pPr>
            <a:endParaRPr lang="en-US" sz="1150" dirty="0"/>
          </a:p>
        </p:txBody>
      </p:sp>
      <p:sp>
        <p:nvSpPr>
          <p:cNvPr id="11" name="Shape 0">
            <a:extLst>
              <a:ext uri="{FF2B5EF4-FFF2-40B4-BE49-F238E27FC236}">
                <a16:creationId xmlns:a16="http://schemas.microsoft.com/office/drawing/2014/main" id="{5283EDEB-738E-CE6C-C516-FF0CC2E1B100}"/>
              </a:ext>
            </a:extLst>
          </p:cNvPr>
          <p:cNvSpPr/>
          <p:nvPr/>
        </p:nvSpPr>
        <p:spPr>
          <a:xfrm>
            <a:off x="640080" y="548640"/>
            <a:ext cx="2743200" cy="3291840"/>
          </a:xfrm>
          <a:prstGeom prst="rect">
            <a:avLst/>
          </a:prstGeom>
          <a:solidFill>
            <a:srgbClr val="F5F5F5"/>
          </a:solidFill>
          <a:ln/>
        </p:spPr>
        <p:txBody>
          <a:bodyPr/>
          <a:lstStyle/>
          <a:p>
            <a:endParaRPr lang="en-US"/>
          </a:p>
        </p:txBody>
      </p:sp>
      <p:pic>
        <p:nvPicPr>
          <p:cNvPr id="12" name="Image 0">
            <a:extLst>
              <a:ext uri="{FF2B5EF4-FFF2-40B4-BE49-F238E27FC236}">
                <a16:creationId xmlns:a16="http://schemas.microsoft.com/office/drawing/2014/main" id="{F495F04D-DF00-4D74-3410-5B06EBBCB613}"/>
              </a:ext>
            </a:extLst>
          </p:cNvPr>
          <p:cNvPicPr>
            <a:picLocks noChangeAspect="1"/>
          </p:cNvPicPr>
          <p:nvPr/>
        </p:nvPicPr>
        <p:blipFill>
          <a:blip r:embed="rId3"/>
          <a:srcRect l="214" r="214"/>
          <a:stretch/>
        </p:blipFill>
        <p:spPr>
          <a:xfrm>
            <a:off x="777240" y="685800"/>
            <a:ext cx="2468880" cy="3017520"/>
          </a:xfrm>
          <a:prstGeom prst="rect">
            <a:avLst/>
          </a:prstGeom>
        </p:spPr>
      </p:pic>
      <p:sp>
        <p:nvSpPr>
          <p:cNvPr id="14" name="TextBox 13">
            <a:extLst>
              <a:ext uri="{FF2B5EF4-FFF2-40B4-BE49-F238E27FC236}">
                <a16:creationId xmlns:a16="http://schemas.microsoft.com/office/drawing/2014/main" id="{899BE05E-B605-B305-B523-E3BC8B0A6BF2}"/>
              </a:ext>
            </a:extLst>
          </p:cNvPr>
          <p:cNvSpPr txBox="1"/>
          <p:nvPr/>
        </p:nvSpPr>
        <p:spPr>
          <a:xfrm>
            <a:off x="542701" y="4275093"/>
            <a:ext cx="6686995" cy="3724096"/>
          </a:xfrm>
          <a:prstGeom prst="rect">
            <a:avLst/>
          </a:prstGeom>
          <a:noFill/>
        </p:spPr>
        <p:txBody>
          <a:bodyPr wrap="square">
            <a:spAutoFit/>
          </a:bodyPr>
          <a:lstStyle/>
          <a:p>
            <a:pPr marL="0" marR="0">
              <a:spcAft>
                <a:spcPts val="800"/>
              </a:spcAft>
              <a:buNone/>
            </a:pPr>
            <a:r>
              <a:rPr lang="en-US" sz="1200" kern="100" dirty="0">
                <a:solidFill>
                  <a:schemeClr val="bg1">
                    <a:lumMod val="50000"/>
                  </a:schemeClr>
                </a:solidFill>
                <a:effectLst/>
                <a:latin typeface="Aptos Display" panose="020B0004020202020204" pitchFamily="34" charset="0"/>
                <a:ea typeface="Aptos" panose="020B0004020202020204" pitchFamily="34" charset="0"/>
                <a:cs typeface="Times New Roman" panose="02020603050405020304" pitchFamily="18" charset="0"/>
              </a:rPr>
              <a:t>Peter Reppucci, global real estate advisor in Premier Sotheby’s International Realty’s Broad Avenue office, began his career in Naples in 1993 and quickly became active in the development and marketing of luxury real estate in the exclusive neighborhoods of Port Royal, Old Naples, The Moorings and Park Shore.</a:t>
            </a:r>
          </a:p>
          <a:p>
            <a:pPr marL="0" marR="0">
              <a:spcAft>
                <a:spcPts val="800"/>
              </a:spcAft>
              <a:buNone/>
            </a:pPr>
            <a:r>
              <a:rPr lang="en-US" sz="1200" kern="100" dirty="0">
                <a:solidFill>
                  <a:schemeClr val="bg1">
                    <a:lumMod val="50000"/>
                  </a:schemeClr>
                </a:solidFill>
                <a:effectLst/>
                <a:latin typeface="Aptos Display" panose="020B0004020202020204" pitchFamily="34" charset="0"/>
                <a:ea typeface="Aptos" panose="020B0004020202020204" pitchFamily="34" charset="0"/>
                <a:cs typeface="Times New Roman" panose="02020603050405020304" pitchFamily="18" charset="0"/>
              </a:rPr>
              <a:t>He is respected by customers and colleagues alike for his knowledge and expertise in the Naples luxury home market, and for his skill in understanding the needs of the homebuyer and the seller. Peter has consistently participated in many of the larger sales transactions in Collier County, earning him numerous sales awards throughout his career.</a:t>
            </a:r>
          </a:p>
          <a:p>
            <a:pPr marL="0" marR="0">
              <a:spcAft>
                <a:spcPts val="800"/>
              </a:spcAft>
              <a:buNone/>
            </a:pPr>
            <a:r>
              <a:rPr lang="en-US" sz="1200" kern="100" dirty="0">
                <a:solidFill>
                  <a:schemeClr val="bg1">
                    <a:lumMod val="50000"/>
                  </a:schemeClr>
                </a:solidFill>
                <a:effectLst/>
                <a:latin typeface="Aptos Display" panose="020B0004020202020204" pitchFamily="34" charset="0"/>
                <a:ea typeface="Aptos" panose="020B0004020202020204" pitchFamily="34" charset="0"/>
                <a:cs typeface="Times New Roman" panose="02020603050405020304" pitchFamily="18" charset="0"/>
              </a:rPr>
              <a:t>Peter is as equally knowledgeable in the construction of ultra-luxury homes as he is in marketing and selling them. His general contractor’s license has led him to participate in and coordinate the construction of many of Naples beachfront and waterfront homes. This valuable experience in the design, permitting and building of luxury homes gives Peter the ability to negotiate sales when his customers are purchasing a new home or gives them guidance when building or remodeling their dream home.</a:t>
            </a:r>
          </a:p>
          <a:p>
            <a:pPr>
              <a:buNone/>
            </a:pPr>
            <a:r>
              <a:rPr lang="en-US" sz="1200" dirty="0">
                <a:solidFill>
                  <a:schemeClr val="bg1">
                    <a:lumMod val="50000"/>
                  </a:schemeClr>
                </a:solidFill>
                <a:effectLst/>
                <a:latin typeface="Aptos Display" panose="020B0004020202020204" pitchFamily="34" charset="0"/>
                <a:ea typeface="Aptos" panose="020B0004020202020204" pitchFamily="34" charset="0"/>
                <a:cs typeface="Times New Roman" panose="02020603050405020304" pitchFamily="18" charset="0"/>
              </a:rPr>
              <a:t>Luxury homebuyers prefer to collaborate with Peter because he is one of Naples successful and experienced REALTORS®. He has earned the trust and confidence of his customers through his honesty and integrity, and by the dedication he puts into every transaction. His level of success has been achieved through hard work, effective communication, expert negotiating skills and exceptional customer service. Customers continually return to Peter for their future real estate needs and frequently refer him to family and friends looking for their dream home in Naples as well.</a:t>
            </a:r>
            <a:endParaRPr lang="en-US" sz="1200" dirty="0">
              <a:solidFill>
                <a:schemeClr val="bg1">
                  <a:lumMod val="50000"/>
                </a:schemeClr>
              </a:solidFill>
              <a:latin typeface="Aptos Display" panose="020B0004020202020204" pitchFamily="34" charset="0"/>
            </a:endParaRPr>
          </a:p>
        </p:txBody>
      </p:sp>
      <p:sp>
        <p:nvSpPr>
          <p:cNvPr id="15" name="Text 1">
            <a:extLst>
              <a:ext uri="{FF2B5EF4-FFF2-40B4-BE49-F238E27FC236}">
                <a16:creationId xmlns:a16="http://schemas.microsoft.com/office/drawing/2014/main" id="{C1246711-659A-5D9A-9611-0F5A0B7299F6}"/>
              </a:ext>
            </a:extLst>
          </p:cNvPr>
          <p:cNvSpPr/>
          <p:nvPr/>
        </p:nvSpPr>
        <p:spPr>
          <a:xfrm>
            <a:off x="3749040" y="827043"/>
            <a:ext cx="3383280" cy="457200"/>
          </a:xfrm>
          <a:prstGeom prst="rect">
            <a:avLst/>
          </a:prstGeom>
          <a:noFill/>
          <a:ln/>
        </p:spPr>
        <p:txBody>
          <a:bodyPr wrap="square" lIns="0" tIns="0" rIns="0" bIns="0" rtlCol="0" anchor="ctr"/>
          <a:lstStyle/>
          <a:p>
            <a:pPr marL="0" indent="0" algn="l">
              <a:buNone/>
            </a:pPr>
            <a:r>
              <a:rPr lang="en-US" sz="2400" b="1" dirty="0">
                <a:solidFill>
                  <a:srgbClr val="153D63"/>
                </a:solidFill>
                <a:latin typeface="Georgia" pitchFamily="34" charset="0"/>
                <a:ea typeface="Georgia" pitchFamily="34" charset="-122"/>
                <a:cs typeface="Georgia" pitchFamily="34" charset="-120"/>
              </a:rPr>
              <a:t>Pete Reppucci</a:t>
            </a:r>
            <a:endParaRPr lang="en-US" sz="2400" dirty="0"/>
          </a:p>
        </p:txBody>
      </p:sp>
      <p:sp>
        <p:nvSpPr>
          <p:cNvPr id="16" name="Text 2">
            <a:extLst>
              <a:ext uri="{FF2B5EF4-FFF2-40B4-BE49-F238E27FC236}">
                <a16:creationId xmlns:a16="http://schemas.microsoft.com/office/drawing/2014/main" id="{B5A5F219-1D05-50B3-9156-6CCBE60710CE}"/>
              </a:ext>
            </a:extLst>
          </p:cNvPr>
          <p:cNvSpPr/>
          <p:nvPr/>
        </p:nvSpPr>
        <p:spPr>
          <a:xfrm>
            <a:off x="3749040" y="1329963"/>
            <a:ext cx="3383280" cy="274320"/>
          </a:xfrm>
          <a:prstGeom prst="rect">
            <a:avLst/>
          </a:prstGeom>
          <a:noFill/>
          <a:ln/>
        </p:spPr>
        <p:txBody>
          <a:bodyPr wrap="square" lIns="0" tIns="0" rIns="0" bIns="0" rtlCol="0" anchor="ctr"/>
          <a:lstStyle/>
          <a:p>
            <a:pPr marL="0" indent="0" algn="l">
              <a:buNone/>
            </a:pPr>
            <a:r>
              <a:rPr lang="en-US" sz="1200" kern="0" spc="200" dirty="0">
                <a:solidFill>
                  <a:schemeClr val="bg1">
                    <a:lumMod val="50000"/>
                  </a:schemeClr>
                </a:solidFill>
                <a:latin typeface="Calibri" pitchFamily="34" charset="0"/>
                <a:ea typeface="Calibri" pitchFamily="34" charset="-122"/>
                <a:cs typeface="Calibri" pitchFamily="34" charset="-120"/>
              </a:rPr>
              <a:t>GLOBAL REAL ESTATE ADVISOR</a:t>
            </a:r>
            <a:endParaRPr lang="en-US" sz="1200" dirty="0">
              <a:solidFill>
                <a:schemeClr val="bg1">
                  <a:lumMod val="50000"/>
                </a:schemeClr>
              </a:solidFill>
            </a:endParaRPr>
          </a:p>
        </p:txBody>
      </p:sp>
      <p:sp>
        <p:nvSpPr>
          <p:cNvPr id="17" name="Text 3">
            <a:extLst>
              <a:ext uri="{FF2B5EF4-FFF2-40B4-BE49-F238E27FC236}">
                <a16:creationId xmlns:a16="http://schemas.microsoft.com/office/drawing/2014/main" id="{B4EE3E38-BF39-EAF4-1F91-3EC774DBFC9A}"/>
              </a:ext>
            </a:extLst>
          </p:cNvPr>
          <p:cNvSpPr/>
          <p:nvPr/>
        </p:nvSpPr>
        <p:spPr>
          <a:xfrm>
            <a:off x="3749040" y="1924323"/>
            <a:ext cx="3383280" cy="1097280"/>
          </a:xfrm>
          <a:prstGeom prst="rect">
            <a:avLst/>
          </a:prstGeom>
          <a:noFill/>
          <a:ln/>
        </p:spPr>
        <p:txBody>
          <a:bodyPr wrap="square" lIns="0" tIns="0" rIns="0" bIns="0" rtlCol="0" anchor="ctr"/>
          <a:lstStyle/>
          <a:p>
            <a:pPr marL="0" indent="0" algn="l">
              <a:lnSpc>
                <a:spcPct val="140000"/>
              </a:lnSpc>
              <a:buNone/>
            </a:pPr>
            <a:r>
              <a:rPr lang="en-US" sz="1200" b="1" dirty="0">
                <a:solidFill>
                  <a:schemeClr val="bg1">
                    <a:lumMod val="50000"/>
                  </a:schemeClr>
                </a:solidFill>
                <a:latin typeface="Aptos Light" panose="020B0004020202020204" pitchFamily="34" charset="0"/>
                <a:ea typeface="Calibri" pitchFamily="34" charset="-122"/>
                <a:cs typeface="Calibri" pitchFamily="34" charset="-120"/>
              </a:rPr>
              <a:t>C.239.595.6500</a:t>
            </a:r>
          </a:p>
          <a:p>
            <a:pPr marL="0" indent="0" algn="l">
              <a:lnSpc>
                <a:spcPct val="140000"/>
              </a:lnSpc>
              <a:buNone/>
            </a:pPr>
            <a:r>
              <a:rPr lang="en-US" sz="1200" dirty="0">
                <a:solidFill>
                  <a:schemeClr val="bg1">
                    <a:lumMod val="50000"/>
                  </a:schemeClr>
                </a:solidFill>
                <a:latin typeface="Aptos Light" panose="020B0004020202020204" pitchFamily="34" charset="0"/>
                <a:ea typeface="Calibri" pitchFamily="34" charset="-122"/>
                <a:cs typeface="Calibri" pitchFamily="34" charset="-120"/>
              </a:rPr>
              <a:t>Pete.Reppucci@PremierSIR.com</a:t>
            </a:r>
          </a:p>
          <a:p>
            <a:pPr marL="0" indent="0" algn="l">
              <a:lnSpc>
                <a:spcPct val="140000"/>
              </a:lnSpc>
              <a:buNone/>
            </a:pPr>
            <a:r>
              <a:rPr lang="en-US" sz="1200" dirty="0">
                <a:solidFill>
                  <a:schemeClr val="bg1">
                    <a:lumMod val="50000"/>
                  </a:schemeClr>
                </a:solidFill>
                <a:latin typeface="Aptos Light" panose="020B0004020202020204" pitchFamily="34" charset="0"/>
                <a:ea typeface="Calibri" pitchFamily="34" charset="-122"/>
                <a:cs typeface="Calibri" pitchFamily="34" charset="-120"/>
              </a:rPr>
              <a:t>www.ARGnaples.com</a:t>
            </a:r>
          </a:p>
          <a:p>
            <a:pPr marL="0" indent="0" algn="l">
              <a:lnSpc>
                <a:spcPct val="140000"/>
              </a:lnSpc>
              <a:buNone/>
            </a:pPr>
            <a:r>
              <a:rPr lang="en-US" sz="1200" dirty="0">
                <a:solidFill>
                  <a:schemeClr val="bg1">
                    <a:lumMod val="50000"/>
                  </a:schemeClr>
                </a:solidFill>
                <a:latin typeface="Aptos Light" panose="020B0004020202020204" pitchFamily="34" charset="0"/>
                <a:ea typeface="Calibri" pitchFamily="34" charset="-122"/>
                <a:cs typeface="Calibri" pitchFamily="34" charset="-120"/>
              </a:rPr>
              <a:t>Premier Sotheby’s</a:t>
            </a:r>
            <a:r>
              <a:rPr lang="en-US" sz="1200" dirty="0">
                <a:solidFill>
                  <a:schemeClr val="bg1">
                    <a:lumMod val="50000"/>
                  </a:schemeClr>
                </a:solidFill>
                <a:latin typeface="Aptos Light" panose="020B0004020202020204" pitchFamily="34" charset="0"/>
              </a:rPr>
              <a:t> </a:t>
            </a:r>
            <a:r>
              <a:rPr lang="en-US" sz="1200" dirty="0">
                <a:solidFill>
                  <a:schemeClr val="bg1">
                    <a:lumMod val="50000"/>
                  </a:schemeClr>
                </a:solidFill>
                <a:latin typeface="Aptos Light" panose="020B0004020202020204" pitchFamily="34" charset="0"/>
                <a:ea typeface="Calibri" pitchFamily="34" charset="-122"/>
                <a:cs typeface="Calibri" pitchFamily="34" charset="-120"/>
              </a:rPr>
              <a:t>International Realty</a:t>
            </a:r>
            <a:endParaRPr lang="en-US" sz="1200" dirty="0">
              <a:solidFill>
                <a:schemeClr val="bg1">
                  <a:lumMod val="50000"/>
                </a:schemeClr>
              </a:solidFill>
              <a:latin typeface="Aptos Light" panose="020B0004020202020204" pitchFamily="34" charset="0"/>
            </a:endParaRPr>
          </a:p>
          <a:p>
            <a:pPr marL="0" indent="0" algn="l">
              <a:lnSpc>
                <a:spcPct val="140000"/>
              </a:lnSpc>
              <a:buNone/>
            </a:pPr>
            <a:r>
              <a:rPr lang="en-US" sz="1200" dirty="0">
                <a:solidFill>
                  <a:schemeClr val="bg1">
                    <a:lumMod val="50000"/>
                  </a:schemeClr>
                </a:solidFill>
                <a:latin typeface="Aptos Light" panose="020B0004020202020204" pitchFamily="34" charset="0"/>
                <a:ea typeface="Calibri" pitchFamily="34" charset="-122"/>
                <a:cs typeface="Calibri" pitchFamily="34" charset="-120"/>
              </a:rPr>
              <a:t>Broad Avenue Office</a:t>
            </a:r>
            <a:endParaRPr lang="en-US" sz="1200" dirty="0">
              <a:solidFill>
                <a:schemeClr val="bg1">
                  <a:lumMod val="50000"/>
                </a:schemeClr>
              </a:solidFill>
              <a:latin typeface="Aptos Light" panose="020B0004020202020204" pitchFamily="34" charset="0"/>
            </a:endParaRPr>
          </a:p>
          <a:p>
            <a:pPr marL="0" indent="0" algn="l">
              <a:lnSpc>
                <a:spcPct val="140000"/>
              </a:lnSpc>
              <a:buNone/>
            </a:pPr>
            <a:r>
              <a:rPr lang="en-US" sz="1200" dirty="0">
                <a:solidFill>
                  <a:schemeClr val="bg1">
                    <a:lumMod val="50000"/>
                  </a:schemeClr>
                </a:solidFill>
                <a:latin typeface="Aptos Light" panose="020B0004020202020204" pitchFamily="34" charset="0"/>
                <a:ea typeface="Calibri" pitchFamily="34" charset="-122"/>
                <a:cs typeface="Calibri" pitchFamily="34" charset="-120"/>
              </a:rPr>
              <a:t>Naples, Florida</a:t>
            </a:r>
            <a:endParaRPr lang="en-US" sz="1200" dirty="0">
              <a:solidFill>
                <a:schemeClr val="bg1">
                  <a:lumMod val="50000"/>
                </a:schemeClr>
              </a:solidFill>
              <a:latin typeface="Aptos Light" panose="020B0004020202020204" pitchFamily="34" charset="0"/>
            </a:endParaRPr>
          </a:p>
        </p:txBody>
      </p:sp>
      <p:pic>
        <p:nvPicPr>
          <p:cNvPr id="18" name="Image 0">
            <a:extLst>
              <a:ext uri="{FF2B5EF4-FFF2-40B4-BE49-F238E27FC236}">
                <a16:creationId xmlns:a16="http://schemas.microsoft.com/office/drawing/2014/main" id="{9516AFE5-300C-45C2-4880-E361588EF650}"/>
              </a:ext>
            </a:extLst>
          </p:cNvPr>
          <p:cNvPicPr>
            <a:picLocks noChangeAspect="1"/>
          </p:cNvPicPr>
          <p:nvPr/>
        </p:nvPicPr>
        <p:blipFill>
          <a:blip r:embed="rId4"/>
          <a:srcRect/>
          <a:stretch/>
        </p:blipFill>
        <p:spPr>
          <a:xfrm>
            <a:off x="640080" y="8701015"/>
            <a:ext cx="2642235" cy="808745"/>
          </a:xfrm>
          <a:prstGeom prst="rect">
            <a:avLst/>
          </a:prstGeom>
        </p:spPr>
      </p:pic>
      <p:sp>
        <p:nvSpPr>
          <p:cNvPr id="4" name="Rectangle 3">
            <a:extLst>
              <a:ext uri="{FF2B5EF4-FFF2-40B4-BE49-F238E27FC236}">
                <a16:creationId xmlns:a16="http://schemas.microsoft.com/office/drawing/2014/main" id="{6D1C2A8F-DE3E-3BD5-757A-575B4DE3B76C}"/>
              </a:ext>
            </a:extLst>
          </p:cNvPr>
          <p:cNvSpPr/>
          <p:nvPr/>
        </p:nvSpPr>
        <p:spPr>
          <a:xfrm>
            <a:off x="177282" y="186612"/>
            <a:ext cx="7380514" cy="9685176"/>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2743200" cy="3291840"/>
          </a:xfrm>
          <a:prstGeom prst="rect">
            <a:avLst/>
          </a:prstGeom>
          <a:solidFill>
            <a:srgbClr val="153D63"/>
          </a:solidFill>
          <a:ln/>
        </p:spPr>
        <p:txBody>
          <a:bodyPr/>
          <a:lstStyle/>
          <a:p>
            <a:endParaRPr lang="en-US"/>
          </a:p>
        </p:txBody>
      </p:sp>
      <p:sp>
        <p:nvSpPr>
          <p:cNvPr id="3" name="Text 1"/>
          <p:cNvSpPr/>
          <p:nvPr/>
        </p:nvSpPr>
        <p:spPr>
          <a:xfrm>
            <a:off x="640080" y="548640"/>
            <a:ext cx="2743200" cy="3291840"/>
          </a:xfrm>
          <a:prstGeom prst="rect">
            <a:avLst/>
          </a:prstGeom>
          <a:noFill/>
          <a:ln/>
        </p:spPr>
        <p:txBody>
          <a:bodyPr wrap="square" lIns="0" tIns="0" rIns="0" bIns="0" rtlCol="0" anchor="ctr"/>
          <a:lstStyle/>
          <a:p>
            <a:pPr marL="0" indent="0" algn="ctr">
              <a:buNone/>
            </a:pPr>
            <a:r>
              <a:rPr lang="en-US" sz="8000" dirty="0">
                <a:solidFill>
                  <a:srgbClr val="C5A44E">
                    <a:alpha val="85000"/>
                  </a:srgbClr>
                </a:solidFill>
                <a:latin typeface="Georgia" pitchFamily="34" charset="0"/>
                <a:ea typeface="Georgia" pitchFamily="34" charset="-122"/>
                <a:cs typeface="Georgia" pitchFamily="34" charset="-120"/>
              </a:rPr>
              <a:t>MG</a:t>
            </a:r>
            <a:endParaRPr lang="en-US" sz="8000" dirty="0"/>
          </a:p>
        </p:txBody>
      </p:sp>
      <p:sp>
        <p:nvSpPr>
          <p:cNvPr id="7" name="Text 5"/>
          <p:cNvSpPr/>
          <p:nvPr/>
        </p:nvSpPr>
        <p:spPr>
          <a:xfrm>
            <a:off x="640080" y="4206240"/>
            <a:ext cx="6492240" cy="4937760"/>
          </a:xfrm>
          <a:prstGeom prst="rect">
            <a:avLst/>
          </a:prstGeom>
          <a:noFill/>
          <a:ln/>
        </p:spPr>
        <p:txBody>
          <a:bodyPr wrap="square" lIns="0" tIns="0" rIns="0" bIns="0" rtlCol="0" anchor="t"/>
          <a:lstStyle/>
          <a:p>
            <a:pPr marL="0" indent="0" algn="l">
              <a:lnSpc>
                <a:spcPct val="140000"/>
              </a:lnSpc>
              <a:spcAft>
                <a:spcPts val="800"/>
              </a:spcAft>
              <a:buNone/>
            </a:pPr>
            <a:endParaRPr lang="en-US" sz="1150" dirty="0"/>
          </a:p>
        </p:txBody>
      </p:sp>
      <p:pic>
        <p:nvPicPr>
          <p:cNvPr id="8" name="Image 0"/>
          <p:cNvPicPr>
            <a:picLocks noChangeAspect="1"/>
          </p:cNvPicPr>
          <p:nvPr/>
        </p:nvPicPr>
        <p:blipFill>
          <a:blip r:embed="rId3"/>
          <a:srcRect/>
          <a:stretch/>
        </p:blipFill>
        <p:spPr>
          <a:xfrm>
            <a:off x="640080" y="8701015"/>
            <a:ext cx="2642235" cy="808745"/>
          </a:xfrm>
          <a:prstGeom prst="rect">
            <a:avLst/>
          </a:prstGeom>
        </p:spPr>
      </p:pic>
      <p:sp>
        <p:nvSpPr>
          <p:cNvPr id="10" name="Shape 0">
            <a:extLst>
              <a:ext uri="{FF2B5EF4-FFF2-40B4-BE49-F238E27FC236}">
                <a16:creationId xmlns:a16="http://schemas.microsoft.com/office/drawing/2014/main" id="{B25CE47C-0B41-FA53-48A6-B962D803BABD}"/>
              </a:ext>
            </a:extLst>
          </p:cNvPr>
          <p:cNvSpPr/>
          <p:nvPr/>
        </p:nvSpPr>
        <p:spPr>
          <a:xfrm>
            <a:off x="640080" y="548640"/>
            <a:ext cx="2743200" cy="3291840"/>
          </a:xfrm>
          <a:prstGeom prst="rect">
            <a:avLst/>
          </a:prstGeom>
          <a:solidFill>
            <a:srgbClr val="F5F5F5"/>
          </a:solidFill>
          <a:ln/>
        </p:spPr>
        <p:txBody>
          <a:bodyPr/>
          <a:lstStyle/>
          <a:p>
            <a:endParaRPr lang="en-US"/>
          </a:p>
        </p:txBody>
      </p:sp>
      <p:pic>
        <p:nvPicPr>
          <p:cNvPr id="11" name="Image 0">
            <a:extLst>
              <a:ext uri="{FF2B5EF4-FFF2-40B4-BE49-F238E27FC236}">
                <a16:creationId xmlns:a16="http://schemas.microsoft.com/office/drawing/2014/main" id="{0B9AF7AB-7BF4-AD55-3D92-21C3F86883A4}"/>
              </a:ext>
            </a:extLst>
          </p:cNvPr>
          <p:cNvPicPr>
            <a:picLocks noChangeAspect="1"/>
          </p:cNvPicPr>
          <p:nvPr/>
        </p:nvPicPr>
        <p:blipFill>
          <a:blip r:embed="rId4"/>
          <a:srcRect l="51" r="51"/>
          <a:stretch/>
        </p:blipFill>
        <p:spPr>
          <a:xfrm>
            <a:off x="777240" y="685800"/>
            <a:ext cx="2468880" cy="3017520"/>
          </a:xfrm>
          <a:prstGeom prst="rect">
            <a:avLst/>
          </a:prstGeom>
        </p:spPr>
      </p:pic>
      <p:sp>
        <p:nvSpPr>
          <p:cNvPr id="13" name="TextBox 12">
            <a:extLst>
              <a:ext uri="{FF2B5EF4-FFF2-40B4-BE49-F238E27FC236}">
                <a16:creationId xmlns:a16="http://schemas.microsoft.com/office/drawing/2014/main" id="{53373CB3-3A1A-05CA-2879-2F1C7FEC432C}"/>
              </a:ext>
            </a:extLst>
          </p:cNvPr>
          <p:cNvSpPr txBox="1"/>
          <p:nvPr/>
        </p:nvSpPr>
        <p:spPr>
          <a:xfrm>
            <a:off x="603885" y="4140429"/>
            <a:ext cx="6694170" cy="4154984"/>
          </a:xfrm>
          <a:prstGeom prst="rect">
            <a:avLst/>
          </a:prstGeom>
          <a:noFill/>
        </p:spPr>
        <p:txBody>
          <a:bodyPr wrap="square">
            <a:spAutoFit/>
          </a:bodyPr>
          <a:lstStyle/>
          <a:p>
            <a:pPr marL="0" marR="0" algn="just">
              <a:buNone/>
            </a:pPr>
            <a:r>
              <a:rPr lang="en-US" sz="1200" dirty="0">
                <a:solidFill>
                  <a:schemeClr val="bg1">
                    <a:lumMod val="50000"/>
                  </a:schemeClr>
                </a:solidFill>
                <a:effectLst/>
                <a:latin typeface="Aptos Display" panose="020B0004020202020204" pitchFamily="34" charset="0"/>
                <a:ea typeface="Times New Roman" panose="02020603050405020304" pitchFamily="18" charset="0"/>
              </a:rPr>
              <a:t>With more than 17 years of distinguished experience and over 350 successful transactions, Michael Giacalone is a trusted global real estate advisor with Premier Sotheby’s International Realty Broad Avenue office in Naples. Originally from New Jersey, Michael has been consistently recognized among the industry’s top performers, earning membership in the RE/MAX Hall of Fame and ranking among the Top 100 RE/MAX Agents in New Jersey.</a:t>
            </a:r>
          </a:p>
          <a:p>
            <a:pPr marL="0" marR="0" algn="just">
              <a:buNone/>
            </a:pPr>
            <a:endParaRPr lang="en-US" sz="1200" dirty="0">
              <a:solidFill>
                <a:schemeClr val="bg1">
                  <a:lumMod val="50000"/>
                </a:schemeClr>
              </a:solidFill>
              <a:effectLst/>
              <a:latin typeface="Times New Roman" panose="02020603050405020304" pitchFamily="18" charset="0"/>
              <a:ea typeface="Times New Roman" panose="02020603050405020304" pitchFamily="18" charset="0"/>
            </a:endParaRPr>
          </a:p>
          <a:p>
            <a:pPr marL="0" marR="0" algn="just">
              <a:buNone/>
            </a:pPr>
            <a:r>
              <a:rPr lang="en-US" sz="1200" dirty="0">
                <a:solidFill>
                  <a:schemeClr val="bg1">
                    <a:lumMod val="50000"/>
                  </a:schemeClr>
                </a:solidFill>
                <a:effectLst/>
                <a:latin typeface="Aptos Display" panose="020B0004020202020204" pitchFamily="34" charset="0"/>
                <a:ea typeface="Times New Roman" panose="02020603050405020304" pitchFamily="18" charset="0"/>
              </a:rPr>
              <a:t>Renowned for his straightforward, results-driven approach, Michael excels at structuring complex transactions, negotiating strategically, and delivering exceptional outcomes for his clients. Guided by his Northeast drive and disciplined work ethic, he brings a distinctive blend of determination, professionalism, and finesse to the Naples luxury real estate market, where discerning clientele value discretion, expertise, and white-glove service. His ability to combine tenacity with a refined, client-centered approach ensures an experience that is both highly personalized and results-oriented.</a:t>
            </a:r>
            <a:endParaRPr lang="en-US" sz="1200" dirty="0">
              <a:solidFill>
                <a:schemeClr val="bg1">
                  <a:lumMod val="50000"/>
                </a:schemeClr>
              </a:solidFill>
              <a:effectLst/>
              <a:latin typeface="Times New Roman" panose="02020603050405020304" pitchFamily="18" charset="0"/>
              <a:ea typeface="Times New Roman" panose="02020603050405020304" pitchFamily="18" charset="0"/>
            </a:endParaRPr>
          </a:p>
          <a:p>
            <a:pPr marL="0" marR="0" algn="just">
              <a:buNone/>
            </a:pPr>
            <a:endParaRPr lang="en-US" sz="1200" dirty="0">
              <a:solidFill>
                <a:schemeClr val="bg1">
                  <a:lumMod val="50000"/>
                </a:schemeClr>
              </a:solidFill>
              <a:effectLst/>
              <a:latin typeface="Aptos Display" panose="020B0004020202020204" pitchFamily="34" charset="0"/>
              <a:ea typeface="Times New Roman" panose="02020603050405020304" pitchFamily="18" charset="0"/>
            </a:endParaRPr>
          </a:p>
          <a:p>
            <a:pPr marL="0" marR="0" algn="just">
              <a:buNone/>
            </a:pPr>
            <a:r>
              <a:rPr lang="en-US" sz="1200" dirty="0">
                <a:solidFill>
                  <a:schemeClr val="bg1">
                    <a:lumMod val="50000"/>
                  </a:schemeClr>
                </a:solidFill>
                <a:effectLst/>
                <a:latin typeface="Aptos Display" panose="020B0004020202020204" pitchFamily="34" charset="0"/>
                <a:ea typeface="Times New Roman" panose="02020603050405020304" pitchFamily="18" charset="0"/>
              </a:rPr>
              <a:t>Michael’s background in advertising and construction provides a unique professional advantage, shaping his comprehensive understanding of marketing, property presentation, and the built environment. This multidimensional expertise allows him to confidently guide clients through new construction opportunities, renovation potential, and strategic staging designed to maximize a property’s value and appeal.</a:t>
            </a:r>
            <a:endParaRPr lang="en-US" sz="1200" dirty="0">
              <a:solidFill>
                <a:schemeClr val="bg1">
                  <a:lumMod val="50000"/>
                </a:schemeClr>
              </a:solidFill>
              <a:effectLst/>
              <a:latin typeface="Times New Roman" panose="02020603050405020304" pitchFamily="18" charset="0"/>
              <a:ea typeface="Times New Roman" panose="02020603050405020304" pitchFamily="18" charset="0"/>
            </a:endParaRPr>
          </a:p>
          <a:p>
            <a:pPr marL="0" marR="0" algn="just">
              <a:buNone/>
            </a:pPr>
            <a:endParaRPr lang="en-US" sz="1200" dirty="0">
              <a:solidFill>
                <a:schemeClr val="bg1">
                  <a:lumMod val="50000"/>
                </a:schemeClr>
              </a:solidFill>
              <a:effectLst/>
              <a:latin typeface="Aptos Display" panose="020B0004020202020204" pitchFamily="34" charset="0"/>
              <a:ea typeface="Times New Roman" panose="02020603050405020304" pitchFamily="18" charset="0"/>
            </a:endParaRPr>
          </a:p>
          <a:p>
            <a:pPr marL="0" marR="0" algn="just">
              <a:buNone/>
            </a:pPr>
            <a:r>
              <a:rPr lang="en-US" sz="1200" dirty="0">
                <a:solidFill>
                  <a:schemeClr val="bg1">
                    <a:lumMod val="50000"/>
                  </a:schemeClr>
                </a:solidFill>
                <a:effectLst/>
                <a:latin typeface="Aptos Display" panose="020B0004020202020204" pitchFamily="34" charset="0"/>
                <a:ea typeface="Times New Roman" panose="02020603050405020304" pitchFamily="18" charset="0"/>
              </a:rPr>
              <a:t>Backed by the global reach of Sotheby’s International Realty, Michael offers world-class marketing, powerful international exposure, and an elevated level of service built on trust, communication, and concierge-level attention.</a:t>
            </a:r>
            <a:endParaRPr lang="en-US" sz="1200" dirty="0">
              <a:solidFill>
                <a:schemeClr val="bg1">
                  <a:lumMod val="50000"/>
                </a:schemeClr>
              </a:solidFill>
              <a:effectLst/>
              <a:latin typeface="Times New Roman" panose="02020603050405020304" pitchFamily="18" charset="0"/>
              <a:ea typeface="Times New Roman" panose="02020603050405020304" pitchFamily="18" charset="0"/>
            </a:endParaRPr>
          </a:p>
        </p:txBody>
      </p:sp>
      <p:sp>
        <p:nvSpPr>
          <p:cNvPr id="14" name="Text 1">
            <a:extLst>
              <a:ext uri="{FF2B5EF4-FFF2-40B4-BE49-F238E27FC236}">
                <a16:creationId xmlns:a16="http://schemas.microsoft.com/office/drawing/2014/main" id="{F39B11AA-8B3A-9082-7B60-4DAF84A34E63}"/>
              </a:ext>
            </a:extLst>
          </p:cNvPr>
          <p:cNvSpPr/>
          <p:nvPr/>
        </p:nvSpPr>
        <p:spPr>
          <a:xfrm>
            <a:off x="3749040" y="827043"/>
            <a:ext cx="3383280" cy="457200"/>
          </a:xfrm>
          <a:prstGeom prst="rect">
            <a:avLst/>
          </a:prstGeom>
          <a:noFill/>
          <a:ln/>
        </p:spPr>
        <p:txBody>
          <a:bodyPr wrap="square" lIns="0" tIns="0" rIns="0" bIns="0" rtlCol="0" anchor="ctr"/>
          <a:lstStyle/>
          <a:p>
            <a:pPr marL="0" indent="0" algn="l">
              <a:buNone/>
            </a:pPr>
            <a:r>
              <a:rPr lang="en-US" sz="2400" b="1" dirty="0">
                <a:solidFill>
                  <a:srgbClr val="153D63"/>
                </a:solidFill>
                <a:latin typeface="Georgia" pitchFamily="34" charset="0"/>
              </a:rPr>
              <a:t>Michael Giacalone</a:t>
            </a:r>
            <a:endParaRPr lang="en-US" sz="2400" dirty="0"/>
          </a:p>
        </p:txBody>
      </p:sp>
      <p:sp>
        <p:nvSpPr>
          <p:cNvPr id="15" name="Text 2">
            <a:extLst>
              <a:ext uri="{FF2B5EF4-FFF2-40B4-BE49-F238E27FC236}">
                <a16:creationId xmlns:a16="http://schemas.microsoft.com/office/drawing/2014/main" id="{4ECB1CCA-59FE-8E66-4201-46E0B6084BE8}"/>
              </a:ext>
            </a:extLst>
          </p:cNvPr>
          <p:cNvSpPr/>
          <p:nvPr/>
        </p:nvSpPr>
        <p:spPr>
          <a:xfrm>
            <a:off x="3749040" y="1329963"/>
            <a:ext cx="3383280" cy="274320"/>
          </a:xfrm>
          <a:prstGeom prst="rect">
            <a:avLst/>
          </a:prstGeom>
          <a:noFill/>
          <a:ln/>
        </p:spPr>
        <p:txBody>
          <a:bodyPr wrap="square" lIns="0" tIns="0" rIns="0" bIns="0" rtlCol="0" anchor="ctr"/>
          <a:lstStyle/>
          <a:p>
            <a:pPr marL="0" indent="0" algn="l">
              <a:buNone/>
            </a:pPr>
            <a:r>
              <a:rPr lang="en-US" sz="1200" kern="0" spc="200" dirty="0">
                <a:solidFill>
                  <a:schemeClr val="bg1">
                    <a:lumMod val="50000"/>
                  </a:schemeClr>
                </a:solidFill>
                <a:latin typeface="Calibri" pitchFamily="34" charset="0"/>
                <a:ea typeface="Calibri" pitchFamily="34" charset="-122"/>
                <a:cs typeface="Calibri" pitchFamily="34" charset="-120"/>
              </a:rPr>
              <a:t>GLOBAL REAL ESTATE ADVISOR</a:t>
            </a:r>
            <a:endParaRPr lang="en-US" sz="1200" dirty="0">
              <a:solidFill>
                <a:schemeClr val="bg1">
                  <a:lumMod val="50000"/>
                </a:schemeClr>
              </a:solidFill>
            </a:endParaRPr>
          </a:p>
        </p:txBody>
      </p:sp>
      <p:sp>
        <p:nvSpPr>
          <p:cNvPr id="16" name="Text 3">
            <a:extLst>
              <a:ext uri="{FF2B5EF4-FFF2-40B4-BE49-F238E27FC236}">
                <a16:creationId xmlns:a16="http://schemas.microsoft.com/office/drawing/2014/main" id="{2BA86E62-A36D-34A6-42FB-4EB18970A41E}"/>
              </a:ext>
            </a:extLst>
          </p:cNvPr>
          <p:cNvSpPr/>
          <p:nvPr/>
        </p:nvSpPr>
        <p:spPr>
          <a:xfrm>
            <a:off x="3749040" y="2003676"/>
            <a:ext cx="3383280" cy="1097280"/>
          </a:xfrm>
          <a:prstGeom prst="rect">
            <a:avLst/>
          </a:prstGeom>
          <a:noFill/>
          <a:ln/>
        </p:spPr>
        <p:txBody>
          <a:bodyPr wrap="square" lIns="0" tIns="0" rIns="0" bIns="0" rtlCol="0" anchor="ctr"/>
          <a:lstStyle/>
          <a:p>
            <a:pPr marL="0" indent="0" algn="l">
              <a:lnSpc>
                <a:spcPct val="140000"/>
              </a:lnSpc>
              <a:buNone/>
            </a:pPr>
            <a:r>
              <a:rPr lang="en-US" sz="1200" b="1" dirty="0">
                <a:solidFill>
                  <a:schemeClr val="bg1">
                    <a:lumMod val="50000"/>
                  </a:schemeClr>
                </a:solidFill>
                <a:latin typeface="Aptos Light" panose="020B0004020202020204" pitchFamily="34" charset="0"/>
                <a:ea typeface="Calibri" pitchFamily="34" charset="-122"/>
                <a:cs typeface="Calibri" pitchFamily="34" charset="-120"/>
              </a:rPr>
              <a:t>C.239.431.0321</a:t>
            </a:r>
          </a:p>
          <a:p>
            <a:pPr marL="0" indent="0" algn="l">
              <a:lnSpc>
                <a:spcPct val="140000"/>
              </a:lnSpc>
              <a:buNone/>
            </a:pPr>
            <a:r>
              <a:rPr lang="en-US" sz="1200" dirty="0">
                <a:solidFill>
                  <a:schemeClr val="bg1">
                    <a:lumMod val="50000"/>
                  </a:schemeClr>
                </a:solidFill>
                <a:latin typeface="Aptos Light" panose="020B0004020202020204" pitchFamily="34" charset="0"/>
                <a:ea typeface="Calibri" pitchFamily="34" charset="-122"/>
                <a:cs typeface="Calibri" pitchFamily="34" charset="-120"/>
              </a:rPr>
              <a:t>Michael.Giacalone@PremierSIR.com</a:t>
            </a:r>
          </a:p>
          <a:p>
            <a:pPr marL="0" indent="0" algn="l">
              <a:lnSpc>
                <a:spcPct val="140000"/>
              </a:lnSpc>
              <a:buNone/>
            </a:pPr>
            <a:r>
              <a:rPr lang="en-US" sz="1200" dirty="0">
                <a:solidFill>
                  <a:schemeClr val="bg1">
                    <a:lumMod val="50000"/>
                  </a:schemeClr>
                </a:solidFill>
                <a:latin typeface="Aptos Light" panose="020B0004020202020204" pitchFamily="34" charset="0"/>
                <a:ea typeface="Calibri" pitchFamily="34" charset="-122"/>
                <a:cs typeface="Calibri" pitchFamily="34" charset="-120"/>
              </a:rPr>
              <a:t>www.ARGnaples.com</a:t>
            </a:r>
          </a:p>
          <a:p>
            <a:pPr>
              <a:lnSpc>
                <a:spcPct val="140000"/>
              </a:lnSpc>
            </a:pPr>
            <a:r>
              <a:rPr lang="en-US" sz="1200" dirty="0">
                <a:solidFill>
                  <a:schemeClr val="bg1">
                    <a:lumMod val="50000"/>
                  </a:schemeClr>
                </a:solidFill>
                <a:latin typeface="Aptos Light" panose="020B0004020202020204" pitchFamily="34" charset="0"/>
                <a:ea typeface="Calibri" pitchFamily="34" charset="-122"/>
                <a:cs typeface="Calibri" pitchFamily="34" charset="-120"/>
              </a:rPr>
              <a:t>Premier Sotheby’s</a:t>
            </a:r>
            <a:r>
              <a:rPr lang="en-US" sz="1200" dirty="0">
                <a:solidFill>
                  <a:schemeClr val="bg1">
                    <a:lumMod val="50000"/>
                  </a:schemeClr>
                </a:solidFill>
                <a:latin typeface="Aptos Light" panose="020B0004020202020204" pitchFamily="34" charset="0"/>
              </a:rPr>
              <a:t> </a:t>
            </a:r>
            <a:r>
              <a:rPr lang="en-US" sz="1200" dirty="0">
                <a:solidFill>
                  <a:schemeClr val="bg1">
                    <a:lumMod val="50000"/>
                  </a:schemeClr>
                </a:solidFill>
                <a:latin typeface="Aptos Light" panose="020B0004020202020204" pitchFamily="34" charset="0"/>
                <a:ea typeface="Calibri" pitchFamily="34" charset="-122"/>
                <a:cs typeface="Calibri" pitchFamily="34" charset="-120"/>
              </a:rPr>
              <a:t>International Realty</a:t>
            </a:r>
            <a:endParaRPr lang="en-US" sz="1200" dirty="0">
              <a:solidFill>
                <a:schemeClr val="bg1">
                  <a:lumMod val="50000"/>
                </a:schemeClr>
              </a:solidFill>
              <a:latin typeface="Aptos Light" panose="020B0004020202020204" pitchFamily="34" charset="0"/>
            </a:endParaRPr>
          </a:p>
          <a:p>
            <a:pPr>
              <a:lnSpc>
                <a:spcPct val="140000"/>
              </a:lnSpc>
            </a:pPr>
            <a:r>
              <a:rPr lang="en-US" sz="1200" dirty="0">
                <a:solidFill>
                  <a:schemeClr val="bg1">
                    <a:lumMod val="50000"/>
                  </a:schemeClr>
                </a:solidFill>
                <a:latin typeface="Aptos Light" panose="020B0004020202020204" pitchFamily="34" charset="0"/>
                <a:ea typeface="Calibri" pitchFamily="34" charset="-122"/>
                <a:cs typeface="Calibri" pitchFamily="34" charset="-120"/>
              </a:rPr>
              <a:t>Broad Avenue Office</a:t>
            </a:r>
            <a:endParaRPr lang="en-US" sz="1200" dirty="0">
              <a:solidFill>
                <a:schemeClr val="bg1">
                  <a:lumMod val="50000"/>
                </a:schemeClr>
              </a:solidFill>
              <a:latin typeface="Aptos Light" panose="020B0004020202020204" pitchFamily="34" charset="0"/>
            </a:endParaRPr>
          </a:p>
          <a:p>
            <a:pPr>
              <a:lnSpc>
                <a:spcPct val="140000"/>
              </a:lnSpc>
            </a:pPr>
            <a:r>
              <a:rPr lang="en-US" sz="1200" dirty="0">
                <a:solidFill>
                  <a:schemeClr val="bg1">
                    <a:lumMod val="50000"/>
                  </a:schemeClr>
                </a:solidFill>
                <a:latin typeface="Aptos Light" panose="020B0004020202020204" pitchFamily="34" charset="0"/>
                <a:ea typeface="Calibri" pitchFamily="34" charset="-122"/>
                <a:cs typeface="Calibri" pitchFamily="34" charset="-120"/>
              </a:rPr>
              <a:t>Naples, Florida</a:t>
            </a:r>
            <a:endParaRPr lang="en-US" sz="1200" dirty="0">
              <a:solidFill>
                <a:schemeClr val="bg1">
                  <a:lumMod val="50000"/>
                </a:schemeClr>
              </a:solidFill>
              <a:latin typeface="Aptos Light" panose="020B0004020202020204" pitchFamily="34" charset="0"/>
            </a:endParaRPr>
          </a:p>
          <a:p>
            <a:pPr marL="0" indent="0" algn="l">
              <a:lnSpc>
                <a:spcPct val="140000"/>
              </a:lnSpc>
              <a:buNone/>
            </a:pPr>
            <a:endParaRPr lang="en-US" sz="1200" b="1" dirty="0">
              <a:solidFill>
                <a:schemeClr val="bg1">
                  <a:lumMod val="50000"/>
                </a:schemeClr>
              </a:solidFill>
              <a:latin typeface="Aptos Light" panose="020B0004020202020204" pitchFamily="34" charset="0"/>
              <a:ea typeface="Calibri" pitchFamily="34" charset="-122"/>
              <a:cs typeface="Calibri" pitchFamily="34" charset="-120"/>
            </a:endParaRPr>
          </a:p>
        </p:txBody>
      </p:sp>
      <p:sp>
        <p:nvSpPr>
          <p:cNvPr id="4" name="Rectangle 3">
            <a:extLst>
              <a:ext uri="{FF2B5EF4-FFF2-40B4-BE49-F238E27FC236}">
                <a16:creationId xmlns:a16="http://schemas.microsoft.com/office/drawing/2014/main" id="{ABB0572A-CD9B-CB32-5B3B-0B25A4FBE590}"/>
              </a:ext>
            </a:extLst>
          </p:cNvPr>
          <p:cNvSpPr/>
          <p:nvPr/>
        </p:nvSpPr>
        <p:spPr>
          <a:xfrm>
            <a:off x="177282" y="186612"/>
            <a:ext cx="7380514" cy="9685176"/>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365760"/>
            <a:ext cx="6858000" cy="640080"/>
          </a:xfrm>
          <a:prstGeom prst="rect">
            <a:avLst/>
          </a:prstGeom>
          <a:noFill/>
          <a:ln/>
        </p:spPr>
        <p:txBody>
          <a:bodyPr wrap="square" lIns="0" tIns="0" rIns="0" bIns="0" rtlCol="0" anchor="ctr"/>
          <a:lstStyle/>
          <a:p>
            <a:pPr marL="0" indent="0" algn="ctr">
              <a:buNone/>
            </a:pPr>
            <a:r>
              <a:rPr lang="en-US" sz="1800" b="1" kern="0" spc="300" dirty="0">
                <a:solidFill>
                  <a:schemeClr val="bg1">
                    <a:lumMod val="50000"/>
                  </a:schemeClr>
                </a:solidFill>
                <a:latin typeface="Georgia" pitchFamily="34" charset="0"/>
                <a:ea typeface="Georgia" pitchFamily="34" charset="-122"/>
                <a:cs typeface="Georgia" pitchFamily="34" charset="-120"/>
              </a:rPr>
              <a:t>SIGNIFICANT SALES</a:t>
            </a:r>
            <a:endParaRPr lang="en-US" sz="1800" b="1" dirty="0">
              <a:solidFill>
                <a:schemeClr val="bg1">
                  <a:lumMod val="50000"/>
                </a:schemeClr>
              </a:solidFill>
            </a:endParaRPr>
          </a:p>
        </p:txBody>
      </p:sp>
      <p:sp>
        <p:nvSpPr>
          <p:cNvPr id="4" name="Text 2"/>
          <p:cNvSpPr/>
          <p:nvPr/>
        </p:nvSpPr>
        <p:spPr>
          <a:xfrm>
            <a:off x="6400800" y="9738360"/>
            <a:ext cx="1097280" cy="228600"/>
          </a:xfrm>
          <a:prstGeom prst="rect">
            <a:avLst/>
          </a:prstGeom>
          <a:noFill/>
          <a:ln/>
        </p:spPr>
        <p:txBody>
          <a:bodyPr wrap="square" lIns="0" tIns="0" rIns="0" bIns="0" rtlCol="0" anchor="ctr"/>
          <a:lstStyle/>
          <a:p>
            <a:pPr marL="0" indent="0" algn="r">
              <a:buNone/>
            </a:pPr>
            <a:r>
              <a:rPr lang="en-US" sz="800" dirty="0">
                <a:solidFill>
                  <a:srgbClr val="95A5A6"/>
                </a:solidFill>
                <a:latin typeface="Calibri" pitchFamily="34" charset="0"/>
                <a:ea typeface="Calibri" pitchFamily="34" charset="-122"/>
                <a:cs typeface="Calibri" pitchFamily="34" charset="-120"/>
              </a:rPr>
              <a:t>1 of 4</a:t>
            </a:r>
            <a:endParaRPr lang="en-US" sz="800" dirty="0"/>
          </a:p>
        </p:txBody>
      </p:sp>
      <p:sp>
        <p:nvSpPr>
          <p:cNvPr id="5" name="Shape 3"/>
          <p:cNvSpPr/>
          <p:nvPr/>
        </p:nvSpPr>
        <p:spPr>
          <a:xfrm>
            <a:off x="457200" y="1234440"/>
            <a:ext cx="3268980" cy="2667000"/>
          </a:xfrm>
          <a:prstGeom prst="rect">
            <a:avLst/>
          </a:prstGeom>
          <a:solidFill>
            <a:srgbClr val="FFFFFF"/>
          </a:solidFill>
          <a:ln/>
        </p:spPr>
        <p:txBody>
          <a:bodyPr/>
          <a:lstStyle/>
          <a:p>
            <a:endParaRPr lang="en-US"/>
          </a:p>
        </p:txBody>
      </p:sp>
      <p:pic>
        <p:nvPicPr>
          <p:cNvPr id="6" name="Image 0" descr="/agent/turn1/workspace/input/files/file_8f3f9ea6/images/1.jpeg"/>
          <p:cNvPicPr>
            <a:picLocks noChangeAspect="1"/>
          </p:cNvPicPr>
          <p:nvPr/>
        </p:nvPicPr>
        <p:blipFill>
          <a:blip r:embed="rId3"/>
          <a:srcRect t="5047" b="5047"/>
          <a:stretch/>
        </p:blipFill>
        <p:spPr>
          <a:xfrm>
            <a:off x="457200" y="1234440"/>
            <a:ext cx="3268980" cy="1733550"/>
          </a:xfrm>
          <a:prstGeom prst="rect">
            <a:avLst/>
          </a:prstGeom>
        </p:spPr>
      </p:pic>
      <p:sp>
        <p:nvSpPr>
          <p:cNvPr id="7" name="Text 4"/>
          <p:cNvSpPr/>
          <p:nvPr/>
        </p:nvSpPr>
        <p:spPr>
          <a:xfrm>
            <a:off x="594360" y="3041142"/>
            <a:ext cx="2994660" cy="320040"/>
          </a:xfrm>
          <a:prstGeom prst="rect">
            <a:avLst/>
          </a:prstGeom>
          <a:noFill/>
          <a:ln/>
        </p:spPr>
        <p:txBody>
          <a:bodyPr wrap="square" lIns="0" tIns="0" rIns="0" bIns="0" rtlCol="0" anchor="t"/>
          <a:lstStyle/>
          <a:p>
            <a:pPr marL="0" indent="0" algn="ctr">
              <a:buNone/>
            </a:pPr>
            <a:r>
              <a:rPr lang="en-US" sz="1000" b="1" dirty="0">
                <a:solidFill>
                  <a:srgbClr val="2C3E50"/>
                </a:solidFill>
                <a:latin typeface="Georgia" panose="02040502050405020303" pitchFamily="18" charset="0"/>
                <a:ea typeface="Georgia" pitchFamily="34" charset="-122"/>
                <a:cs typeface="Georgia" pitchFamily="34" charset="-120"/>
              </a:rPr>
              <a:t>25 16th Avenue South</a:t>
            </a:r>
            <a:endParaRPr lang="en-US" sz="1000" b="1" dirty="0">
              <a:latin typeface="Georgia" panose="02040502050405020303" pitchFamily="18" charset="0"/>
            </a:endParaRPr>
          </a:p>
        </p:txBody>
      </p:sp>
      <p:sp>
        <p:nvSpPr>
          <p:cNvPr id="8" name="Text 5"/>
          <p:cNvSpPr/>
          <p:nvPr/>
        </p:nvSpPr>
        <p:spPr>
          <a:xfrm>
            <a:off x="594360" y="3236198"/>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Calibri" pitchFamily="34" charset="-122"/>
                <a:cs typeface="Calibri" pitchFamily="34" charset="-120"/>
              </a:rPr>
              <a:t>Sold | </a:t>
            </a:r>
            <a:r>
              <a:rPr lang="en-US" sz="1000" dirty="0">
                <a:solidFill>
                  <a:srgbClr val="36454F"/>
                </a:solidFill>
                <a:latin typeface="Aptos" panose="020B0004020202020204" pitchFamily="34" charset="0"/>
                <a:ea typeface="Calibri" pitchFamily="34" charset="-122"/>
                <a:cs typeface="Calibri" pitchFamily="34" charset="-120"/>
              </a:rPr>
              <a:t>$62,000,000 </a:t>
            </a:r>
            <a:r>
              <a:rPr lang="en-US" sz="1000" dirty="0">
                <a:solidFill>
                  <a:srgbClr val="36454F"/>
                </a:solidFill>
                <a:latin typeface="Georgia" panose="02040502050405020303" pitchFamily="18" charset="0"/>
                <a:ea typeface="Calibri" pitchFamily="34" charset="-122"/>
                <a:cs typeface="Calibri" pitchFamily="34" charset="-120"/>
              </a:rPr>
              <a:t>| </a:t>
            </a:r>
            <a:r>
              <a:rPr lang="en-US" sz="1000" dirty="0">
                <a:solidFill>
                  <a:srgbClr val="566573"/>
                </a:solidFill>
                <a:latin typeface="Georgia" panose="02040502050405020303" pitchFamily="18" charset="0"/>
                <a:ea typeface="Calibri" pitchFamily="34" charset="-122"/>
                <a:cs typeface="Calibri" pitchFamily="34" charset="-120"/>
              </a:rPr>
              <a:t>Represented Seller &amp; Buyer</a:t>
            </a:r>
            <a:endParaRPr lang="en-US" sz="1000" dirty="0">
              <a:latin typeface="Georgia" panose="02040502050405020303" pitchFamily="18" charset="0"/>
            </a:endParaRPr>
          </a:p>
        </p:txBody>
      </p:sp>
      <p:sp>
        <p:nvSpPr>
          <p:cNvPr id="9" name="Shape 6"/>
          <p:cNvSpPr/>
          <p:nvPr/>
        </p:nvSpPr>
        <p:spPr>
          <a:xfrm>
            <a:off x="4046220" y="1234440"/>
            <a:ext cx="3268980" cy="2667000"/>
          </a:xfrm>
          <a:prstGeom prst="rect">
            <a:avLst/>
          </a:prstGeom>
          <a:solidFill>
            <a:srgbClr val="FFFFFF"/>
          </a:solidFill>
          <a:ln/>
        </p:spPr>
        <p:txBody>
          <a:bodyPr/>
          <a:lstStyle/>
          <a:p>
            <a:endParaRPr lang="en-US"/>
          </a:p>
        </p:txBody>
      </p:sp>
      <p:pic>
        <p:nvPicPr>
          <p:cNvPr id="10" name="Image 1" descr="/agent/turn1/workspace/input/files/file_8f3f9ea6/images/2.jpeg"/>
          <p:cNvPicPr>
            <a:picLocks noChangeAspect="1"/>
          </p:cNvPicPr>
          <p:nvPr/>
        </p:nvPicPr>
        <p:blipFill>
          <a:blip r:embed="rId4"/>
          <a:srcRect t="9109" b="9109"/>
          <a:stretch/>
        </p:blipFill>
        <p:spPr>
          <a:xfrm>
            <a:off x="4046220" y="1234440"/>
            <a:ext cx="3268980" cy="1733550"/>
          </a:xfrm>
          <a:prstGeom prst="rect">
            <a:avLst/>
          </a:prstGeom>
        </p:spPr>
      </p:pic>
      <p:sp>
        <p:nvSpPr>
          <p:cNvPr id="11" name="Text 7"/>
          <p:cNvSpPr/>
          <p:nvPr/>
        </p:nvSpPr>
        <p:spPr>
          <a:xfrm>
            <a:off x="4183380" y="3041142"/>
            <a:ext cx="2994660" cy="320040"/>
          </a:xfrm>
          <a:prstGeom prst="rect">
            <a:avLst/>
          </a:prstGeom>
          <a:noFill/>
          <a:ln/>
        </p:spPr>
        <p:txBody>
          <a:bodyPr wrap="square" lIns="0" tIns="0" rIns="0" bIns="0" rtlCol="0" anchor="t"/>
          <a:lstStyle/>
          <a:p>
            <a:pPr marL="0" indent="0" algn="ctr">
              <a:buNone/>
            </a:pPr>
            <a:r>
              <a:rPr lang="en-US" sz="1000" b="1" dirty="0">
                <a:solidFill>
                  <a:srgbClr val="2C3E50"/>
                </a:solidFill>
                <a:latin typeface="Georgia" pitchFamily="34" charset="0"/>
                <a:ea typeface="Georgia" pitchFamily="34" charset="-122"/>
                <a:cs typeface="Georgia" pitchFamily="34" charset="-120"/>
              </a:rPr>
              <a:t>1804 Gulf Shore Boulevard South</a:t>
            </a:r>
            <a:endParaRPr lang="en-US" sz="1000" dirty="0"/>
          </a:p>
        </p:txBody>
      </p:sp>
      <p:sp>
        <p:nvSpPr>
          <p:cNvPr id="12" name="Text 8"/>
          <p:cNvSpPr/>
          <p:nvPr/>
        </p:nvSpPr>
        <p:spPr>
          <a:xfrm>
            <a:off x="4183380" y="3239044"/>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Calibri" pitchFamily="34" charset="-122"/>
                <a:cs typeface="Calibri" pitchFamily="34" charset="-120"/>
              </a:rPr>
              <a:t>Sold | </a:t>
            </a:r>
            <a:r>
              <a:rPr lang="en-US" sz="1000" dirty="0">
                <a:solidFill>
                  <a:srgbClr val="36454F"/>
                </a:solidFill>
                <a:latin typeface="Aptos" panose="020B0004020202020204" pitchFamily="34" charset="0"/>
                <a:ea typeface="Calibri" pitchFamily="34" charset="-122"/>
                <a:cs typeface="Calibri" pitchFamily="34" charset="-120"/>
              </a:rPr>
              <a:t>$32,500,000</a:t>
            </a:r>
            <a:r>
              <a:rPr lang="en-US" sz="1000" dirty="0">
                <a:latin typeface="Aptos" panose="020B0004020202020204" pitchFamily="34" charset="0"/>
              </a:rPr>
              <a:t> </a:t>
            </a:r>
            <a:r>
              <a:rPr lang="en-US" sz="1000" dirty="0">
                <a:latin typeface="Georgia" panose="02040502050405020303" pitchFamily="18" charset="0"/>
              </a:rPr>
              <a:t>| </a:t>
            </a:r>
            <a:r>
              <a:rPr lang="en-US" sz="1000" dirty="0">
                <a:solidFill>
                  <a:srgbClr val="566573"/>
                </a:solidFill>
                <a:latin typeface="Georgia" panose="02040502050405020303" pitchFamily="18" charset="0"/>
                <a:ea typeface="Calibri" pitchFamily="34" charset="-122"/>
                <a:cs typeface="Calibri" pitchFamily="34" charset="-120"/>
              </a:rPr>
              <a:t>Represented Seller as Co-list</a:t>
            </a:r>
            <a:endParaRPr lang="en-US" sz="1000" dirty="0">
              <a:latin typeface="Georgia" panose="02040502050405020303" pitchFamily="18" charset="0"/>
            </a:endParaRPr>
          </a:p>
        </p:txBody>
      </p:sp>
      <p:sp>
        <p:nvSpPr>
          <p:cNvPr id="13" name="Shape 9"/>
          <p:cNvSpPr/>
          <p:nvPr/>
        </p:nvSpPr>
        <p:spPr>
          <a:xfrm>
            <a:off x="457200" y="4130040"/>
            <a:ext cx="3268980" cy="2667000"/>
          </a:xfrm>
          <a:prstGeom prst="rect">
            <a:avLst/>
          </a:prstGeom>
          <a:solidFill>
            <a:srgbClr val="FFFFFF"/>
          </a:solidFill>
          <a:ln/>
        </p:spPr>
        <p:txBody>
          <a:bodyPr/>
          <a:lstStyle/>
          <a:p>
            <a:endParaRPr lang="en-US"/>
          </a:p>
        </p:txBody>
      </p:sp>
      <p:pic>
        <p:nvPicPr>
          <p:cNvPr id="14" name="Image 2" descr="/agent/turn1/workspace/input/files/file_8f3f9ea6/images/3.jpeg"/>
          <p:cNvPicPr>
            <a:picLocks noChangeAspect="1"/>
          </p:cNvPicPr>
          <p:nvPr/>
        </p:nvPicPr>
        <p:blipFill>
          <a:blip r:embed="rId5"/>
          <a:srcRect t="9232" b="9232"/>
          <a:stretch/>
        </p:blipFill>
        <p:spPr>
          <a:xfrm>
            <a:off x="457200" y="4130040"/>
            <a:ext cx="3268980" cy="1733550"/>
          </a:xfrm>
          <a:prstGeom prst="rect">
            <a:avLst/>
          </a:prstGeom>
        </p:spPr>
      </p:pic>
      <p:sp>
        <p:nvSpPr>
          <p:cNvPr id="15" name="Text 10"/>
          <p:cNvSpPr/>
          <p:nvPr/>
        </p:nvSpPr>
        <p:spPr>
          <a:xfrm>
            <a:off x="594360" y="5936742"/>
            <a:ext cx="2994660" cy="320040"/>
          </a:xfrm>
          <a:prstGeom prst="rect">
            <a:avLst/>
          </a:prstGeom>
          <a:noFill/>
          <a:ln/>
        </p:spPr>
        <p:txBody>
          <a:bodyPr wrap="square" lIns="0" tIns="0" rIns="0" bIns="0" rtlCol="0" anchor="t"/>
          <a:lstStyle/>
          <a:p>
            <a:pPr marL="0" indent="0" algn="ctr">
              <a:buNone/>
            </a:pPr>
            <a:r>
              <a:rPr lang="en-US" sz="1000" b="1" dirty="0">
                <a:solidFill>
                  <a:srgbClr val="2C3E50"/>
                </a:solidFill>
                <a:latin typeface="Georgia" pitchFamily="34" charset="0"/>
                <a:ea typeface="Georgia" pitchFamily="34" charset="-122"/>
                <a:cs typeface="Georgia" pitchFamily="34" charset="-120"/>
              </a:rPr>
              <a:t>7613 Bay Colony Drive</a:t>
            </a:r>
            <a:endParaRPr lang="en-US" sz="1000" dirty="0"/>
          </a:p>
        </p:txBody>
      </p:sp>
      <p:sp>
        <p:nvSpPr>
          <p:cNvPr id="16" name="Text 11"/>
          <p:cNvSpPr/>
          <p:nvPr/>
        </p:nvSpPr>
        <p:spPr>
          <a:xfrm>
            <a:off x="594360" y="6150942"/>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Calibri" pitchFamily="34" charset="-122"/>
                <a:cs typeface="Calibri" pitchFamily="34" charset="-120"/>
              </a:rPr>
              <a:t>Sold | </a:t>
            </a:r>
            <a:r>
              <a:rPr lang="en-US" sz="1000" dirty="0">
                <a:solidFill>
                  <a:srgbClr val="36454F"/>
                </a:solidFill>
                <a:latin typeface="Aptos" panose="020B0004020202020204" pitchFamily="34" charset="0"/>
                <a:ea typeface="Calibri" pitchFamily="34" charset="-122"/>
                <a:cs typeface="Calibri" pitchFamily="34" charset="-120"/>
              </a:rPr>
              <a:t>$18,500,000</a:t>
            </a:r>
            <a:r>
              <a:rPr lang="en-US" sz="1000" dirty="0">
                <a:latin typeface="Aptos" panose="020B0004020202020204" pitchFamily="34" charset="0"/>
              </a:rPr>
              <a:t> </a:t>
            </a:r>
            <a:r>
              <a:rPr lang="en-US" sz="1000" dirty="0">
                <a:latin typeface="Georgia" panose="02040502050405020303" pitchFamily="18" charset="0"/>
              </a:rPr>
              <a:t>| </a:t>
            </a:r>
            <a:r>
              <a:rPr lang="en-US" sz="1000" dirty="0">
                <a:solidFill>
                  <a:srgbClr val="566573"/>
                </a:solidFill>
                <a:latin typeface="Georgia" panose="02040502050405020303" pitchFamily="18" charset="0"/>
                <a:ea typeface="Calibri" pitchFamily="34" charset="-122"/>
                <a:cs typeface="Calibri" pitchFamily="34" charset="-120"/>
              </a:rPr>
              <a:t>Represented Seller</a:t>
            </a:r>
            <a:endParaRPr lang="en-US" sz="1000" dirty="0">
              <a:latin typeface="Georgia" panose="02040502050405020303" pitchFamily="18" charset="0"/>
            </a:endParaRPr>
          </a:p>
        </p:txBody>
      </p:sp>
      <p:sp>
        <p:nvSpPr>
          <p:cNvPr id="17" name="Shape 12"/>
          <p:cNvSpPr/>
          <p:nvPr/>
        </p:nvSpPr>
        <p:spPr>
          <a:xfrm>
            <a:off x="4046220" y="4130040"/>
            <a:ext cx="3268980" cy="2667000"/>
          </a:xfrm>
          <a:prstGeom prst="rect">
            <a:avLst/>
          </a:prstGeom>
          <a:solidFill>
            <a:srgbClr val="FFFFFF"/>
          </a:solidFill>
          <a:ln/>
        </p:spPr>
        <p:txBody>
          <a:bodyPr/>
          <a:lstStyle/>
          <a:p>
            <a:endParaRPr lang="en-US"/>
          </a:p>
        </p:txBody>
      </p:sp>
      <p:pic>
        <p:nvPicPr>
          <p:cNvPr id="18" name="Image 3" descr="/agent/turn1/workspace/input/files/file_8f3f9ea6/images/4.jpeg"/>
          <p:cNvPicPr>
            <a:picLocks noChangeAspect="1"/>
          </p:cNvPicPr>
          <p:nvPr/>
        </p:nvPicPr>
        <p:blipFill>
          <a:blip r:embed="rId6"/>
          <a:srcRect t="10142" b="10142"/>
          <a:stretch/>
        </p:blipFill>
        <p:spPr>
          <a:xfrm>
            <a:off x="4046220" y="4130040"/>
            <a:ext cx="3268980" cy="1733550"/>
          </a:xfrm>
          <a:prstGeom prst="rect">
            <a:avLst/>
          </a:prstGeom>
        </p:spPr>
      </p:pic>
      <p:sp>
        <p:nvSpPr>
          <p:cNvPr id="19" name="Text 13"/>
          <p:cNvSpPr/>
          <p:nvPr/>
        </p:nvSpPr>
        <p:spPr>
          <a:xfrm>
            <a:off x="4183380" y="5936742"/>
            <a:ext cx="2994660" cy="320040"/>
          </a:xfrm>
          <a:prstGeom prst="rect">
            <a:avLst/>
          </a:prstGeom>
          <a:noFill/>
          <a:ln/>
        </p:spPr>
        <p:txBody>
          <a:bodyPr wrap="square" lIns="0" tIns="0" rIns="0" bIns="0" rtlCol="0" anchor="t"/>
          <a:lstStyle/>
          <a:p>
            <a:pPr marL="0" indent="0" algn="ctr">
              <a:buNone/>
            </a:pPr>
            <a:r>
              <a:rPr lang="en-US" sz="1000" b="1" dirty="0">
                <a:solidFill>
                  <a:srgbClr val="2C3E50"/>
                </a:solidFill>
                <a:latin typeface="Georgia" pitchFamily="34" charset="0"/>
                <a:ea typeface="Georgia" pitchFamily="34" charset="-122"/>
                <a:cs typeface="Georgia" pitchFamily="34" charset="-120"/>
              </a:rPr>
              <a:t>1144 Gulf Shore Boulevard South</a:t>
            </a:r>
            <a:endParaRPr lang="en-US" sz="1000" dirty="0"/>
          </a:p>
        </p:txBody>
      </p:sp>
      <p:sp>
        <p:nvSpPr>
          <p:cNvPr id="20" name="Text 14"/>
          <p:cNvSpPr/>
          <p:nvPr/>
        </p:nvSpPr>
        <p:spPr>
          <a:xfrm>
            <a:off x="4183380" y="6150942"/>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Calibri" pitchFamily="34" charset="-122"/>
                <a:cs typeface="Calibri" pitchFamily="34" charset="-120"/>
              </a:rPr>
              <a:t>Sold |</a:t>
            </a:r>
            <a:r>
              <a:rPr lang="en-US" sz="1000" dirty="0">
                <a:solidFill>
                  <a:srgbClr val="36454F"/>
                </a:solidFill>
                <a:latin typeface="Aptos" panose="020B0004020202020204" pitchFamily="34" charset="0"/>
                <a:ea typeface="Calibri" pitchFamily="34" charset="-122"/>
                <a:cs typeface="Calibri" pitchFamily="34" charset="-120"/>
              </a:rPr>
              <a:t> $17,900,000</a:t>
            </a:r>
            <a:r>
              <a:rPr lang="en-US" sz="1000" dirty="0">
                <a:latin typeface="Aptos" panose="020B0004020202020204" pitchFamily="34" charset="0"/>
              </a:rPr>
              <a:t> </a:t>
            </a:r>
            <a:r>
              <a:rPr lang="en-US" sz="1000" dirty="0">
                <a:latin typeface="Georgia" panose="02040502050405020303" pitchFamily="18" charset="0"/>
              </a:rPr>
              <a:t>| </a:t>
            </a:r>
            <a:r>
              <a:rPr lang="en-US" sz="1000" dirty="0">
                <a:solidFill>
                  <a:srgbClr val="566573"/>
                </a:solidFill>
                <a:latin typeface="Georgia" panose="02040502050405020303" pitchFamily="18" charset="0"/>
                <a:ea typeface="Calibri" pitchFamily="34" charset="-122"/>
                <a:cs typeface="Calibri" pitchFamily="34" charset="-120"/>
              </a:rPr>
              <a:t>Represented Seller</a:t>
            </a:r>
            <a:endParaRPr lang="en-US" sz="1000" dirty="0">
              <a:latin typeface="Georgia" panose="02040502050405020303" pitchFamily="18" charset="0"/>
            </a:endParaRPr>
          </a:p>
        </p:txBody>
      </p:sp>
      <p:sp>
        <p:nvSpPr>
          <p:cNvPr id="21" name="Shape 15"/>
          <p:cNvSpPr/>
          <p:nvPr/>
        </p:nvSpPr>
        <p:spPr>
          <a:xfrm>
            <a:off x="457200" y="7025640"/>
            <a:ext cx="3268980" cy="2667000"/>
          </a:xfrm>
          <a:prstGeom prst="rect">
            <a:avLst/>
          </a:prstGeom>
          <a:solidFill>
            <a:srgbClr val="FFFFFF"/>
          </a:solidFill>
          <a:ln/>
        </p:spPr>
        <p:txBody>
          <a:bodyPr/>
          <a:lstStyle/>
          <a:p>
            <a:endParaRPr lang="en-US"/>
          </a:p>
        </p:txBody>
      </p:sp>
      <p:pic>
        <p:nvPicPr>
          <p:cNvPr id="22" name="Image 4" descr="/agent/turn1/workspace/input/files/file_8f3f9ea6/images/5.jpeg"/>
          <p:cNvPicPr>
            <a:picLocks noChangeAspect="1"/>
          </p:cNvPicPr>
          <p:nvPr/>
        </p:nvPicPr>
        <p:blipFill>
          <a:blip r:embed="rId7"/>
          <a:srcRect t="11288" b="11288"/>
          <a:stretch/>
        </p:blipFill>
        <p:spPr>
          <a:xfrm>
            <a:off x="457200" y="7025640"/>
            <a:ext cx="3268980" cy="1733550"/>
          </a:xfrm>
          <a:prstGeom prst="rect">
            <a:avLst/>
          </a:prstGeom>
        </p:spPr>
      </p:pic>
      <p:sp>
        <p:nvSpPr>
          <p:cNvPr id="23" name="Text 16"/>
          <p:cNvSpPr/>
          <p:nvPr/>
        </p:nvSpPr>
        <p:spPr>
          <a:xfrm>
            <a:off x="594360" y="8832342"/>
            <a:ext cx="2994660" cy="320040"/>
          </a:xfrm>
          <a:prstGeom prst="rect">
            <a:avLst/>
          </a:prstGeom>
          <a:noFill/>
          <a:ln/>
        </p:spPr>
        <p:txBody>
          <a:bodyPr wrap="square" lIns="0" tIns="0" rIns="0" bIns="0" rtlCol="0" anchor="t"/>
          <a:lstStyle/>
          <a:p>
            <a:pPr marL="0" indent="0" algn="ctr">
              <a:buNone/>
            </a:pPr>
            <a:r>
              <a:rPr lang="en-US" sz="1000" b="1" dirty="0">
                <a:solidFill>
                  <a:srgbClr val="2C3E50"/>
                </a:solidFill>
                <a:latin typeface="Georgia" pitchFamily="34" charset="0"/>
                <a:ea typeface="Georgia" pitchFamily="34" charset="-122"/>
                <a:cs typeface="Georgia" pitchFamily="34" charset="-120"/>
              </a:rPr>
              <a:t>1200 Galleon Drive</a:t>
            </a:r>
            <a:endParaRPr lang="en-US" sz="1000" dirty="0"/>
          </a:p>
        </p:txBody>
      </p:sp>
      <p:sp>
        <p:nvSpPr>
          <p:cNvPr id="24" name="Text 17"/>
          <p:cNvSpPr/>
          <p:nvPr/>
        </p:nvSpPr>
        <p:spPr>
          <a:xfrm>
            <a:off x="594360" y="9066618"/>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Calibri" pitchFamily="34" charset="-122"/>
                <a:cs typeface="Calibri" pitchFamily="34" charset="-120"/>
              </a:rPr>
              <a:t>Sold | </a:t>
            </a:r>
            <a:r>
              <a:rPr lang="en-US" sz="1000" dirty="0">
                <a:solidFill>
                  <a:srgbClr val="36454F"/>
                </a:solidFill>
                <a:latin typeface="Aptos" panose="020B0004020202020204" pitchFamily="34" charset="0"/>
                <a:ea typeface="Calibri" pitchFamily="34" charset="-122"/>
                <a:cs typeface="Calibri" pitchFamily="34" charset="-120"/>
              </a:rPr>
              <a:t>$15,350,000</a:t>
            </a:r>
            <a:r>
              <a:rPr lang="en-US" sz="1000" dirty="0">
                <a:latin typeface="Aptos" panose="020B0004020202020204" pitchFamily="34" charset="0"/>
              </a:rPr>
              <a:t> </a:t>
            </a:r>
            <a:r>
              <a:rPr lang="en-US" sz="1000" dirty="0">
                <a:latin typeface="Georgia" panose="02040502050405020303" pitchFamily="18" charset="0"/>
              </a:rPr>
              <a:t>| </a:t>
            </a:r>
            <a:r>
              <a:rPr lang="en-US" sz="1000" dirty="0">
                <a:solidFill>
                  <a:srgbClr val="566573"/>
                </a:solidFill>
                <a:latin typeface="Georgia" panose="02040502050405020303" pitchFamily="18" charset="0"/>
                <a:ea typeface="Calibri" pitchFamily="34" charset="-122"/>
                <a:cs typeface="Calibri" pitchFamily="34" charset="-120"/>
              </a:rPr>
              <a:t>Represented Buyer</a:t>
            </a:r>
            <a:endParaRPr lang="en-US" sz="1000" dirty="0">
              <a:latin typeface="Georgia" panose="02040502050405020303" pitchFamily="18" charset="0"/>
            </a:endParaRPr>
          </a:p>
        </p:txBody>
      </p:sp>
      <p:sp>
        <p:nvSpPr>
          <p:cNvPr id="25" name="Shape 18"/>
          <p:cNvSpPr/>
          <p:nvPr/>
        </p:nvSpPr>
        <p:spPr>
          <a:xfrm>
            <a:off x="4046220" y="7025640"/>
            <a:ext cx="3268980" cy="2667000"/>
          </a:xfrm>
          <a:prstGeom prst="rect">
            <a:avLst/>
          </a:prstGeom>
          <a:solidFill>
            <a:srgbClr val="FFFFFF"/>
          </a:solidFill>
          <a:ln/>
        </p:spPr>
        <p:txBody>
          <a:bodyPr/>
          <a:lstStyle/>
          <a:p>
            <a:endParaRPr lang="en-US"/>
          </a:p>
        </p:txBody>
      </p:sp>
      <p:pic>
        <p:nvPicPr>
          <p:cNvPr id="26" name="Image 5" descr="/agent/turn1/workspace/input/files/file_8f3f9ea6/images/6.jpeg"/>
          <p:cNvPicPr>
            <a:picLocks noChangeAspect="1"/>
          </p:cNvPicPr>
          <p:nvPr/>
        </p:nvPicPr>
        <p:blipFill>
          <a:blip r:embed="rId8"/>
          <a:srcRect t="8357" b="8357"/>
          <a:stretch/>
        </p:blipFill>
        <p:spPr>
          <a:xfrm>
            <a:off x="4046220" y="7025640"/>
            <a:ext cx="3268980" cy="1733550"/>
          </a:xfrm>
          <a:prstGeom prst="rect">
            <a:avLst/>
          </a:prstGeom>
        </p:spPr>
      </p:pic>
      <p:sp>
        <p:nvSpPr>
          <p:cNvPr id="27" name="Text 19"/>
          <p:cNvSpPr/>
          <p:nvPr/>
        </p:nvSpPr>
        <p:spPr>
          <a:xfrm>
            <a:off x="4183380" y="8832342"/>
            <a:ext cx="2994660" cy="320040"/>
          </a:xfrm>
          <a:prstGeom prst="rect">
            <a:avLst/>
          </a:prstGeom>
          <a:noFill/>
          <a:ln/>
        </p:spPr>
        <p:txBody>
          <a:bodyPr wrap="square" lIns="0" tIns="0" rIns="0" bIns="0" rtlCol="0" anchor="t"/>
          <a:lstStyle/>
          <a:p>
            <a:pPr marL="0" indent="0" algn="ctr">
              <a:buNone/>
            </a:pPr>
            <a:r>
              <a:rPr lang="en-US" sz="1000" b="1" dirty="0">
                <a:solidFill>
                  <a:srgbClr val="2C3E50"/>
                </a:solidFill>
                <a:latin typeface="Georgia" pitchFamily="34" charset="0"/>
                <a:ea typeface="Georgia" pitchFamily="34" charset="-122"/>
                <a:cs typeface="Georgia" pitchFamily="34" charset="-120"/>
              </a:rPr>
              <a:t>3845 Fort Charles Drive</a:t>
            </a:r>
            <a:endParaRPr lang="en-US" sz="1000" dirty="0"/>
          </a:p>
        </p:txBody>
      </p:sp>
      <p:sp>
        <p:nvSpPr>
          <p:cNvPr id="28" name="Text 20"/>
          <p:cNvSpPr/>
          <p:nvPr/>
        </p:nvSpPr>
        <p:spPr>
          <a:xfrm>
            <a:off x="4183380" y="9072652"/>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Calibri" pitchFamily="34" charset="-122"/>
                <a:cs typeface="Calibri" pitchFamily="34" charset="-120"/>
              </a:rPr>
              <a:t>Sold | </a:t>
            </a:r>
            <a:r>
              <a:rPr lang="en-US" sz="1000" dirty="0">
                <a:solidFill>
                  <a:srgbClr val="36454F"/>
                </a:solidFill>
                <a:latin typeface="Aptos" panose="020B0004020202020204" pitchFamily="34" charset="0"/>
                <a:ea typeface="Calibri" pitchFamily="34" charset="-122"/>
                <a:cs typeface="Calibri" pitchFamily="34" charset="-120"/>
              </a:rPr>
              <a:t>$15,150,000</a:t>
            </a:r>
            <a:r>
              <a:rPr lang="en-US" sz="1000" dirty="0">
                <a:latin typeface="Aptos" panose="020B0004020202020204" pitchFamily="34" charset="0"/>
              </a:rPr>
              <a:t> </a:t>
            </a:r>
            <a:r>
              <a:rPr lang="en-US" sz="1000" dirty="0">
                <a:latin typeface="Georgia" panose="02040502050405020303" pitchFamily="18" charset="0"/>
              </a:rPr>
              <a:t>| </a:t>
            </a:r>
            <a:r>
              <a:rPr lang="en-US" sz="1000" dirty="0">
                <a:solidFill>
                  <a:srgbClr val="566573"/>
                </a:solidFill>
                <a:latin typeface="Georgia" panose="02040502050405020303" pitchFamily="18" charset="0"/>
                <a:ea typeface="Calibri" pitchFamily="34" charset="-122"/>
                <a:cs typeface="Calibri" pitchFamily="34" charset="-120"/>
              </a:rPr>
              <a:t>Represented Seller &amp; Buyer</a:t>
            </a:r>
            <a:endParaRPr lang="en-US" sz="1000" dirty="0">
              <a:latin typeface="Georgia" panose="02040502050405020303"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365760"/>
            <a:ext cx="6858000" cy="640080"/>
          </a:xfrm>
          <a:prstGeom prst="rect">
            <a:avLst/>
          </a:prstGeom>
          <a:noFill/>
          <a:ln/>
        </p:spPr>
        <p:txBody>
          <a:bodyPr wrap="square" lIns="0" tIns="0" rIns="0" bIns="0" rtlCol="0" anchor="ctr"/>
          <a:lstStyle/>
          <a:p>
            <a:pPr marL="0" indent="0" algn="ctr">
              <a:buNone/>
            </a:pPr>
            <a:r>
              <a:rPr lang="en-US" sz="1800" b="1" kern="0" spc="300">
                <a:solidFill>
                  <a:schemeClr val="bg1">
                    <a:lumMod val="50000"/>
                  </a:schemeClr>
                </a:solidFill>
                <a:latin typeface="Georgia" pitchFamily="34" charset="0"/>
                <a:ea typeface="Georgia" pitchFamily="34" charset="-122"/>
                <a:cs typeface="Georgia" pitchFamily="34" charset="-120"/>
              </a:rPr>
              <a:t>SIGNIFICANT SALES</a:t>
            </a:r>
            <a:endParaRPr lang="en-US" sz="1800">
              <a:solidFill>
                <a:schemeClr val="bg1">
                  <a:lumMod val="50000"/>
                </a:schemeClr>
              </a:solidFill>
            </a:endParaRPr>
          </a:p>
        </p:txBody>
      </p:sp>
      <p:sp>
        <p:nvSpPr>
          <p:cNvPr id="4" name="Text 2"/>
          <p:cNvSpPr/>
          <p:nvPr/>
        </p:nvSpPr>
        <p:spPr>
          <a:xfrm>
            <a:off x="6400800" y="9738360"/>
            <a:ext cx="1097280" cy="228600"/>
          </a:xfrm>
          <a:prstGeom prst="rect">
            <a:avLst/>
          </a:prstGeom>
          <a:noFill/>
          <a:ln/>
        </p:spPr>
        <p:txBody>
          <a:bodyPr wrap="square" lIns="0" tIns="0" rIns="0" bIns="0" rtlCol="0" anchor="ctr"/>
          <a:lstStyle/>
          <a:p>
            <a:pPr marL="0" indent="0" algn="r">
              <a:buNone/>
            </a:pPr>
            <a:r>
              <a:rPr lang="en-US" sz="800" dirty="0">
                <a:solidFill>
                  <a:srgbClr val="95A5A6"/>
                </a:solidFill>
                <a:latin typeface="Calibri" pitchFamily="34" charset="0"/>
                <a:ea typeface="Calibri" pitchFamily="34" charset="-122"/>
                <a:cs typeface="Calibri" pitchFamily="34" charset="-120"/>
              </a:rPr>
              <a:t>2 of 4</a:t>
            </a:r>
            <a:endParaRPr lang="en-US" sz="800" dirty="0"/>
          </a:p>
        </p:txBody>
      </p:sp>
      <p:sp>
        <p:nvSpPr>
          <p:cNvPr id="5" name="Shape 3"/>
          <p:cNvSpPr/>
          <p:nvPr/>
        </p:nvSpPr>
        <p:spPr>
          <a:xfrm>
            <a:off x="457200" y="1234440"/>
            <a:ext cx="3268980" cy="2667000"/>
          </a:xfrm>
          <a:prstGeom prst="rect">
            <a:avLst/>
          </a:prstGeom>
          <a:solidFill>
            <a:srgbClr val="FFFFFF"/>
          </a:solidFill>
          <a:ln/>
        </p:spPr>
        <p:txBody>
          <a:bodyPr/>
          <a:lstStyle/>
          <a:p>
            <a:endParaRPr lang="en-US"/>
          </a:p>
        </p:txBody>
      </p:sp>
      <p:pic>
        <p:nvPicPr>
          <p:cNvPr id="6" name="Image 0" descr="/agent/turn1/workspace/input/files/file_8f3f9ea6/images/7.jpeg"/>
          <p:cNvPicPr>
            <a:picLocks noChangeAspect="1"/>
          </p:cNvPicPr>
          <p:nvPr/>
        </p:nvPicPr>
        <p:blipFill>
          <a:blip r:embed="rId3"/>
          <a:srcRect t="8986" b="8986"/>
          <a:stretch/>
        </p:blipFill>
        <p:spPr>
          <a:xfrm>
            <a:off x="457200" y="1234440"/>
            <a:ext cx="3268980" cy="1733550"/>
          </a:xfrm>
          <a:prstGeom prst="rect">
            <a:avLst/>
          </a:prstGeom>
        </p:spPr>
      </p:pic>
      <p:sp>
        <p:nvSpPr>
          <p:cNvPr id="7" name="Text 4"/>
          <p:cNvSpPr/>
          <p:nvPr/>
        </p:nvSpPr>
        <p:spPr>
          <a:xfrm>
            <a:off x="594360" y="3041142"/>
            <a:ext cx="2994660" cy="320040"/>
          </a:xfrm>
          <a:prstGeom prst="rect">
            <a:avLst/>
          </a:prstGeom>
          <a:noFill/>
          <a:ln/>
        </p:spPr>
        <p:txBody>
          <a:bodyPr wrap="square" lIns="0" tIns="0" rIns="0" bIns="0" rtlCol="0" anchor="t"/>
          <a:lstStyle/>
          <a:p>
            <a:pPr marL="0" indent="0" algn="ctr">
              <a:buNone/>
            </a:pPr>
            <a:r>
              <a:rPr lang="en-US" sz="1000" b="1">
                <a:solidFill>
                  <a:srgbClr val="2C3E50"/>
                </a:solidFill>
                <a:latin typeface="Georgia" panose="02040502050405020303" pitchFamily="18" charset="0"/>
                <a:ea typeface="Georgia" pitchFamily="34" charset="-122"/>
                <a:cs typeface="Georgia" pitchFamily="34" charset="-120"/>
              </a:rPr>
              <a:t>3696 Nelsons Walk</a:t>
            </a:r>
            <a:endParaRPr lang="en-US" sz="1000"/>
          </a:p>
        </p:txBody>
      </p:sp>
      <p:sp>
        <p:nvSpPr>
          <p:cNvPr id="8" name="Text 5"/>
          <p:cNvSpPr/>
          <p:nvPr/>
        </p:nvSpPr>
        <p:spPr>
          <a:xfrm>
            <a:off x="594360" y="3245420"/>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Georgia" pitchFamily="34" charset="-122"/>
                <a:cs typeface="Georgia" pitchFamily="34" charset="-120"/>
              </a:rPr>
              <a:t>Sold | </a:t>
            </a:r>
            <a:r>
              <a:rPr lang="en-US" sz="1000" dirty="0">
                <a:solidFill>
                  <a:srgbClr val="36454F"/>
                </a:solidFill>
                <a:latin typeface="Aptos" panose="020B0004020202020204" pitchFamily="34" charset="0"/>
                <a:ea typeface="Georgia" pitchFamily="34" charset="-122"/>
                <a:cs typeface="Georgia" pitchFamily="34" charset="-120"/>
              </a:rPr>
              <a:t>$13,500,000 </a:t>
            </a:r>
            <a:r>
              <a:rPr lang="en-US" sz="1000" dirty="0">
                <a:solidFill>
                  <a:srgbClr val="36454F"/>
                </a:solidFill>
                <a:latin typeface="Georgia" panose="02040502050405020303" pitchFamily="18" charset="0"/>
                <a:ea typeface="Georgia" pitchFamily="34" charset="-122"/>
                <a:cs typeface="Georgia" pitchFamily="34" charset="-120"/>
              </a:rPr>
              <a:t>| </a:t>
            </a:r>
            <a:r>
              <a:rPr lang="en-US" sz="1000" dirty="0">
                <a:solidFill>
                  <a:srgbClr val="566573"/>
                </a:solidFill>
                <a:latin typeface="Georgia" panose="02040502050405020303" pitchFamily="18" charset="0"/>
                <a:ea typeface="Georgia" pitchFamily="34" charset="-122"/>
                <a:cs typeface="Georgia" pitchFamily="34" charset="-120"/>
              </a:rPr>
              <a:t>Represented Seller</a:t>
            </a:r>
            <a:endParaRPr lang="en-US" sz="900" dirty="0"/>
          </a:p>
        </p:txBody>
      </p:sp>
      <p:sp>
        <p:nvSpPr>
          <p:cNvPr id="9" name="Shape 6"/>
          <p:cNvSpPr/>
          <p:nvPr/>
        </p:nvSpPr>
        <p:spPr>
          <a:xfrm>
            <a:off x="4046220" y="1234440"/>
            <a:ext cx="3268980" cy="2667000"/>
          </a:xfrm>
          <a:prstGeom prst="rect">
            <a:avLst/>
          </a:prstGeom>
          <a:solidFill>
            <a:srgbClr val="FFFFFF"/>
          </a:solidFill>
          <a:ln/>
        </p:spPr>
        <p:txBody>
          <a:bodyPr/>
          <a:lstStyle/>
          <a:p>
            <a:endParaRPr lang="en-US"/>
          </a:p>
        </p:txBody>
      </p:sp>
      <p:pic>
        <p:nvPicPr>
          <p:cNvPr id="10" name="Image 1" descr="/agent/turn1/workspace/input/files/file_8f3f9ea6/images/8.jpeg"/>
          <p:cNvPicPr>
            <a:picLocks noChangeAspect="1"/>
          </p:cNvPicPr>
          <p:nvPr/>
        </p:nvPicPr>
        <p:blipFill>
          <a:blip r:embed="rId4"/>
          <a:srcRect t="6970" b="6970"/>
          <a:stretch/>
        </p:blipFill>
        <p:spPr>
          <a:xfrm>
            <a:off x="4046220" y="1234440"/>
            <a:ext cx="3268980" cy="1733550"/>
          </a:xfrm>
          <a:prstGeom prst="rect">
            <a:avLst/>
          </a:prstGeom>
        </p:spPr>
      </p:pic>
      <p:sp>
        <p:nvSpPr>
          <p:cNvPr id="11" name="Text 7"/>
          <p:cNvSpPr/>
          <p:nvPr/>
        </p:nvSpPr>
        <p:spPr>
          <a:xfrm>
            <a:off x="4183380" y="3041142"/>
            <a:ext cx="2994660" cy="320040"/>
          </a:xfrm>
          <a:prstGeom prst="rect">
            <a:avLst/>
          </a:prstGeom>
          <a:noFill/>
          <a:ln/>
        </p:spPr>
        <p:txBody>
          <a:bodyPr wrap="square" lIns="0" tIns="0" rIns="0" bIns="0" rtlCol="0" anchor="t"/>
          <a:lstStyle/>
          <a:p>
            <a:pPr marL="0" indent="0" algn="ctr">
              <a:buNone/>
            </a:pPr>
            <a:r>
              <a:rPr lang="en-US" sz="1000" b="1">
                <a:solidFill>
                  <a:srgbClr val="2C3E50"/>
                </a:solidFill>
                <a:latin typeface="Georgia" panose="02040502050405020303" pitchFamily="18" charset="0"/>
                <a:ea typeface="Georgia" pitchFamily="34" charset="-122"/>
                <a:cs typeface="Georgia" pitchFamily="34" charset="-120"/>
              </a:rPr>
              <a:t>649 Gulf Shore Blvd North</a:t>
            </a:r>
            <a:endParaRPr lang="en-US" sz="1000"/>
          </a:p>
        </p:txBody>
      </p:sp>
      <p:sp>
        <p:nvSpPr>
          <p:cNvPr id="12" name="Text 8"/>
          <p:cNvSpPr/>
          <p:nvPr/>
        </p:nvSpPr>
        <p:spPr>
          <a:xfrm>
            <a:off x="4183380" y="3245420"/>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Georgia" pitchFamily="34" charset="-122"/>
                <a:cs typeface="Georgia" pitchFamily="34" charset="-120"/>
              </a:rPr>
              <a:t>Sold | </a:t>
            </a:r>
            <a:r>
              <a:rPr lang="en-US" sz="1000" dirty="0">
                <a:solidFill>
                  <a:srgbClr val="36454F"/>
                </a:solidFill>
                <a:latin typeface="Aptos" panose="020B0004020202020204" pitchFamily="34" charset="0"/>
                <a:ea typeface="Georgia" pitchFamily="34" charset="-122"/>
                <a:cs typeface="Georgia" pitchFamily="34" charset="-120"/>
              </a:rPr>
              <a:t>$13,000,000 </a:t>
            </a:r>
            <a:r>
              <a:rPr lang="en-US" sz="1000" dirty="0">
                <a:solidFill>
                  <a:srgbClr val="36454F"/>
                </a:solidFill>
                <a:latin typeface="Georgia" panose="02040502050405020303" pitchFamily="18" charset="0"/>
                <a:ea typeface="Georgia" pitchFamily="34" charset="-122"/>
                <a:cs typeface="Georgia" pitchFamily="34" charset="-120"/>
              </a:rPr>
              <a:t>| </a:t>
            </a:r>
            <a:r>
              <a:rPr lang="en-US" sz="1000" dirty="0">
                <a:solidFill>
                  <a:srgbClr val="566573"/>
                </a:solidFill>
                <a:latin typeface="Georgia" panose="02040502050405020303" pitchFamily="18" charset="0"/>
                <a:ea typeface="Georgia" pitchFamily="34" charset="-122"/>
                <a:cs typeface="Georgia" pitchFamily="34" charset="-120"/>
              </a:rPr>
              <a:t>Represented Seller</a:t>
            </a:r>
            <a:endParaRPr lang="en-US" sz="900" dirty="0"/>
          </a:p>
        </p:txBody>
      </p:sp>
      <p:sp>
        <p:nvSpPr>
          <p:cNvPr id="13" name="Shape 9"/>
          <p:cNvSpPr/>
          <p:nvPr/>
        </p:nvSpPr>
        <p:spPr>
          <a:xfrm>
            <a:off x="457200" y="4130040"/>
            <a:ext cx="3268980" cy="2667000"/>
          </a:xfrm>
          <a:prstGeom prst="rect">
            <a:avLst/>
          </a:prstGeom>
          <a:solidFill>
            <a:srgbClr val="FFFFFF"/>
          </a:solidFill>
          <a:ln/>
        </p:spPr>
        <p:txBody>
          <a:bodyPr/>
          <a:lstStyle/>
          <a:p>
            <a:endParaRPr lang="en-US"/>
          </a:p>
        </p:txBody>
      </p:sp>
      <p:pic>
        <p:nvPicPr>
          <p:cNvPr id="14" name="Image 2" descr="/agent/turn1/workspace/input/files/file_8f3f9ea6/images/9.jpeg"/>
          <p:cNvPicPr>
            <a:picLocks noChangeAspect="1"/>
          </p:cNvPicPr>
          <p:nvPr/>
        </p:nvPicPr>
        <p:blipFill>
          <a:blip r:embed="rId5"/>
          <a:srcRect t="9109" b="9109"/>
          <a:stretch/>
        </p:blipFill>
        <p:spPr>
          <a:xfrm>
            <a:off x="457200" y="4130040"/>
            <a:ext cx="3268980" cy="1733550"/>
          </a:xfrm>
          <a:prstGeom prst="rect">
            <a:avLst/>
          </a:prstGeom>
        </p:spPr>
      </p:pic>
      <p:sp>
        <p:nvSpPr>
          <p:cNvPr id="15" name="Text 10"/>
          <p:cNvSpPr/>
          <p:nvPr/>
        </p:nvSpPr>
        <p:spPr>
          <a:xfrm>
            <a:off x="594360" y="5936742"/>
            <a:ext cx="2994660" cy="320040"/>
          </a:xfrm>
          <a:prstGeom prst="rect">
            <a:avLst/>
          </a:prstGeom>
          <a:noFill/>
          <a:ln/>
        </p:spPr>
        <p:txBody>
          <a:bodyPr wrap="square" lIns="0" tIns="0" rIns="0" bIns="0" rtlCol="0" anchor="t"/>
          <a:lstStyle/>
          <a:p>
            <a:pPr marL="0" indent="0" algn="ctr">
              <a:buNone/>
            </a:pPr>
            <a:r>
              <a:rPr lang="en-US" sz="1000" b="1">
                <a:solidFill>
                  <a:srgbClr val="2C3E50"/>
                </a:solidFill>
                <a:latin typeface="Georgia" panose="02040502050405020303" pitchFamily="18" charset="0"/>
                <a:ea typeface="Georgia" pitchFamily="34" charset="-122"/>
                <a:cs typeface="Georgia" pitchFamily="34" charset="-120"/>
              </a:rPr>
              <a:t>3540 Gin Lane</a:t>
            </a:r>
            <a:endParaRPr lang="en-US" sz="1000"/>
          </a:p>
        </p:txBody>
      </p:sp>
      <p:sp>
        <p:nvSpPr>
          <p:cNvPr id="16" name="Text 11"/>
          <p:cNvSpPr/>
          <p:nvPr/>
        </p:nvSpPr>
        <p:spPr>
          <a:xfrm>
            <a:off x="594360" y="6155179"/>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Georgia" pitchFamily="34" charset="-122"/>
                <a:cs typeface="Georgia" pitchFamily="34" charset="-120"/>
              </a:rPr>
              <a:t>Sold | </a:t>
            </a:r>
            <a:r>
              <a:rPr lang="en-US" sz="1000" dirty="0">
                <a:solidFill>
                  <a:srgbClr val="36454F"/>
                </a:solidFill>
                <a:latin typeface="Aptos" panose="020B0004020202020204" pitchFamily="34" charset="0"/>
                <a:ea typeface="Georgia" pitchFamily="34" charset="-122"/>
                <a:cs typeface="Georgia" pitchFamily="34" charset="-120"/>
              </a:rPr>
              <a:t>$12,900,000 </a:t>
            </a:r>
            <a:r>
              <a:rPr lang="en-US" sz="1000" dirty="0">
                <a:solidFill>
                  <a:srgbClr val="36454F"/>
                </a:solidFill>
                <a:latin typeface="Georgia" panose="02040502050405020303" pitchFamily="18" charset="0"/>
                <a:ea typeface="Georgia" pitchFamily="34" charset="-122"/>
                <a:cs typeface="Georgia" pitchFamily="34" charset="-120"/>
              </a:rPr>
              <a:t>| </a:t>
            </a:r>
            <a:r>
              <a:rPr lang="en-US" sz="1000" dirty="0">
                <a:solidFill>
                  <a:srgbClr val="566573"/>
                </a:solidFill>
                <a:latin typeface="Georgia" panose="02040502050405020303" pitchFamily="18" charset="0"/>
                <a:ea typeface="Georgia" pitchFamily="34" charset="-122"/>
                <a:cs typeface="Georgia" pitchFamily="34" charset="-120"/>
              </a:rPr>
              <a:t>Represented Buyer</a:t>
            </a:r>
            <a:endParaRPr lang="en-US" sz="900" dirty="0"/>
          </a:p>
        </p:txBody>
      </p:sp>
      <p:sp>
        <p:nvSpPr>
          <p:cNvPr id="17" name="Shape 12"/>
          <p:cNvSpPr/>
          <p:nvPr/>
        </p:nvSpPr>
        <p:spPr>
          <a:xfrm>
            <a:off x="4046220" y="4130040"/>
            <a:ext cx="3268980" cy="2667000"/>
          </a:xfrm>
          <a:prstGeom prst="rect">
            <a:avLst/>
          </a:prstGeom>
          <a:solidFill>
            <a:srgbClr val="FFFFFF"/>
          </a:solidFill>
          <a:ln/>
        </p:spPr>
        <p:txBody>
          <a:bodyPr/>
          <a:lstStyle/>
          <a:p>
            <a:endParaRPr lang="en-US"/>
          </a:p>
        </p:txBody>
      </p:sp>
      <p:pic>
        <p:nvPicPr>
          <p:cNvPr id="18" name="Image 3" descr="/agent/turn1/workspace/input/files/file_8f3f9ea6/images/10.jpeg"/>
          <p:cNvPicPr>
            <a:picLocks noChangeAspect="1"/>
          </p:cNvPicPr>
          <p:nvPr/>
        </p:nvPicPr>
        <p:blipFill>
          <a:blip r:embed="rId6"/>
          <a:srcRect t="13506" b="13506"/>
          <a:stretch/>
        </p:blipFill>
        <p:spPr>
          <a:xfrm>
            <a:off x="4046220" y="4130040"/>
            <a:ext cx="3268980" cy="1733550"/>
          </a:xfrm>
          <a:prstGeom prst="rect">
            <a:avLst/>
          </a:prstGeom>
        </p:spPr>
      </p:pic>
      <p:sp>
        <p:nvSpPr>
          <p:cNvPr id="19" name="Text 13"/>
          <p:cNvSpPr/>
          <p:nvPr/>
        </p:nvSpPr>
        <p:spPr>
          <a:xfrm>
            <a:off x="4183380" y="5936742"/>
            <a:ext cx="2994660" cy="320040"/>
          </a:xfrm>
          <a:prstGeom prst="rect">
            <a:avLst/>
          </a:prstGeom>
          <a:noFill/>
          <a:ln/>
        </p:spPr>
        <p:txBody>
          <a:bodyPr wrap="square" lIns="0" tIns="0" rIns="0" bIns="0" rtlCol="0" anchor="t"/>
          <a:lstStyle/>
          <a:p>
            <a:pPr marL="0" indent="0" algn="ctr">
              <a:buNone/>
            </a:pPr>
            <a:r>
              <a:rPr lang="en-US" sz="1000" b="1">
                <a:solidFill>
                  <a:srgbClr val="2C3E50"/>
                </a:solidFill>
                <a:latin typeface="Georgia" panose="02040502050405020303" pitchFamily="18" charset="0"/>
                <a:ea typeface="Georgia" pitchFamily="34" charset="-122"/>
                <a:cs typeface="Georgia" pitchFamily="34" charset="-120"/>
              </a:rPr>
              <a:t>311 Neapolitan Way</a:t>
            </a:r>
            <a:endParaRPr lang="en-US" sz="1000"/>
          </a:p>
        </p:txBody>
      </p:sp>
      <p:sp>
        <p:nvSpPr>
          <p:cNvPr id="20" name="Text 14"/>
          <p:cNvSpPr/>
          <p:nvPr/>
        </p:nvSpPr>
        <p:spPr>
          <a:xfrm>
            <a:off x="4183380" y="6155179"/>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Georgia" pitchFamily="34" charset="-122"/>
                <a:cs typeface="Georgia" pitchFamily="34" charset="-120"/>
              </a:rPr>
              <a:t>Sold | </a:t>
            </a:r>
            <a:r>
              <a:rPr lang="en-US" sz="1000" dirty="0">
                <a:solidFill>
                  <a:srgbClr val="36454F"/>
                </a:solidFill>
                <a:latin typeface="Aptos" panose="020B0004020202020204" pitchFamily="34" charset="0"/>
                <a:ea typeface="Georgia" pitchFamily="34" charset="-122"/>
                <a:cs typeface="Georgia" pitchFamily="34" charset="-120"/>
              </a:rPr>
              <a:t>$10,525,000 </a:t>
            </a:r>
            <a:r>
              <a:rPr lang="en-US" sz="1000" dirty="0">
                <a:solidFill>
                  <a:srgbClr val="36454F"/>
                </a:solidFill>
                <a:latin typeface="Georgia" panose="02040502050405020303" pitchFamily="18" charset="0"/>
                <a:ea typeface="Georgia" pitchFamily="34" charset="-122"/>
                <a:cs typeface="Georgia" pitchFamily="34" charset="-120"/>
              </a:rPr>
              <a:t>| </a:t>
            </a:r>
            <a:r>
              <a:rPr lang="en-US" sz="1000" dirty="0">
                <a:solidFill>
                  <a:srgbClr val="566573"/>
                </a:solidFill>
                <a:latin typeface="Georgia" panose="02040502050405020303" pitchFamily="18" charset="0"/>
                <a:ea typeface="Georgia" pitchFamily="34" charset="-122"/>
                <a:cs typeface="Georgia" pitchFamily="34" charset="-120"/>
              </a:rPr>
              <a:t>Represented Buyer</a:t>
            </a:r>
            <a:endParaRPr lang="en-US" sz="900" dirty="0"/>
          </a:p>
        </p:txBody>
      </p:sp>
      <p:sp>
        <p:nvSpPr>
          <p:cNvPr id="21" name="Shape 15"/>
          <p:cNvSpPr/>
          <p:nvPr/>
        </p:nvSpPr>
        <p:spPr>
          <a:xfrm>
            <a:off x="457200" y="7025640"/>
            <a:ext cx="3268980" cy="2667000"/>
          </a:xfrm>
          <a:prstGeom prst="rect">
            <a:avLst/>
          </a:prstGeom>
          <a:solidFill>
            <a:srgbClr val="FFFFFF"/>
          </a:solidFill>
          <a:ln/>
        </p:spPr>
        <p:txBody>
          <a:bodyPr/>
          <a:lstStyle/>
          <a:p>
            <a:endParaRPr lang="en-US"/>
          </a:p>
        </p:txBody>
      </p:sp>
      <p:pic>
        <p:nvPicPr>
          <p:cNvPr id="22" name="Image 4" descr="/agent/turn1/workspace/input/files/file_8f3f9ea6/images/11.jpeg"/>
          <p:cNvPicPr>
            <a:picLocks noChangeAspect="1"/>
          </p:cNvPicPr>
          <p:nvPr/>
        </p:nvPicPr>
        <p:blipFill>
          <a:blip r:embed="rId7"/>
          <a:srcRect t="9354" b="9354"/>
          <a:stretch/>
        </p:blipFill>
        <p:spPr>
          <a:xfrm>
            <a:off x="457200" y="7025640"/>
            <a:ext cx="3268980" cy="1733550"/>
          </a:xfrm>
          <a:prstGeom prst="rect">
            <a:avLst/>
          </a:prstGeom>
        </p:spPr>
      </p:pic>
      <p:sp>
        <p:nvSpPr>
          <p:cNvPr id="23" name="Text 16"/>
          <p:cNvSpPr/>
          <p:nvPr/>
        </p:nvSpPr>
        <p:spPr>
          <a:xfrm>
            <a:off x="594360" y="8832342"/>
            <a:ext cx="2994660" cy="320040"/>
          </a:xfrm>
          <a:prstGeom prst="rect">
            <a:avLst/>
          </a:prstGeom>
          <a:noFill/>
          <a:ln/>
        </p:spPr>
        <p:txBody>
          <a:bodyPr wrap="square" lIns="0" tIns="0" rIns="0" bIns="0" rtlCol="0" anchor="t"/>
          <a:lstStyle/>
          <a:p>
            <a:pPr marL="0" indent="0" algn="ctr">
              <a:buNone/>
            </a:pPr>
            <a:r>
              <a:rPr lang="en-US" sz="1000" b="1">
                <a:solidFill>
                  <a:srgbClr val="2C3E50"/>
                </a:solidFill>
                <a:latin typeface="Georgia" panose="02040502050405020303" pitchFamily="18" charset="0"/>
                <a:ea typeface="Georgia" pitchFamily="34" charset="-122"/>
                <a:cs typeface="Georgia" pitchFamily="34" charset="-120"/>
              </a:rPr>
              <a:t>1055 Spyglass Lane</a:t>
            </a:r>
            <a:endParaRPr lang="en-US" sz="1000"/>
          </a:p>
        </p:txBody>
      </p:sp>
      <p:sp>
        <p:nvSpPr>
          <p:cNvPr id="24" name="Text 17"/>
          <p:cNvSpPr/>
          <p:nvPr/>
        </p:nvSpPr>
        <p:spPr>
          <a:xfrm>
            <a:off x="594360" y="9082340"/>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Georgia" pitchFamily="34" charset="-122"/>
                <a:cs typeface="Georgia" pitchFamily="34" charset="-120"/>
              </a:rPr>
              <a:t>Sold | </a:t>
            </a:r>
            <a:r>
              <a:rPr lang="en-US" sz="1000" dirty="0">
                <a:solidFill>
                  <a:srgbClr val="36454F"/>
                </a:solidFill>
                <a:latin typeface="Aptos" panose="020B0004020202020204" pitchFamily="34" charset="0"/>
                <a:ea typeface="Georgia" pitchFamily="34" charset="-122"/>
                <a:cs typeface="Georgia" pitchFamily="34" charset="-120"/>
              </a:rPr>
              <a:t>$10,500,000 </a:t>
            </a:r>
            <a:r>
              <a:rPr lang="en-US" sz="1000" dirty="0">
                <a:solidFill>
                  <a:srgbClr val="36454F"/>
                </a:solidFill>
                <a:latin typeface="Georgia" panose="02040502050405020303" pitchFamily="18" charset="0"/>
                <a:ea typeface="Georgia" pitchFamily="34" charset="-122"/>
                <a:cs typeface="Georgia" pitchFamily="34" charset="-120"/>
              </a:rPr>
              <a:t>| </a:t>
            </a:r>
            <a:r>
              <a:rPr lang="en-US" sz="1000" dirty="0">
                <a:solidFill>
                  <a:srgbClr val="566573"/>
                </a:solidFill>
                <a:latin typeface="Georgia" panose="02040502050405020303" pitchFamily="18" charset="0"/>
                <a:ea typeface="Georgia" pitchFamily="34" charset="-122"/>
                <a:cs typeface="Georgia" pitchFamily="34" charset="-120"/>
              </a:rPr>
              <a:t>Represented Seller</a:t>
            </a:r>
            <a:endParaRPr lang="en-US" sz="900" dirty="0"/>
          </a:p>
        </p:txBody>
      </p:sp>
      <p:sp>
        <p:nvSpPr>
          <p:cNvPr id="25" name="Shape 18"/>
          <p:cNvSpPr/>
          <p:nvPr/>
        </p:nvSpPr>
        <p:spPr>
          <a:xfrm>
            <a:off x="4046220" y="7025640"/>
            <a:ext cx="3268980" cy="2667000"/>
          </a:xfrm>
          <a:prstGeom prst="rect">
            <a:avLst/>
          </a:prstGeom>
          <a:solidFill>
            <a:srgbClr val="FFFFFF"/>
          </a:solidFill>
          <a:ln/>
        </p:spPr>
        <p:txBody>
          <a:bodyPr/>
          <a:lstStyle/>
          <a:p>
            <a:endParaRPr lang="en-US"/>
          </a:p>
        </p:txBody>
      </p:sp>
      <p:pic>
        <p:nvPicPr>
          <p:cNvPr id="26" name="Image 5" descr="/agent/turn1/workspace/input/files/file_8f3f9ea6/images/12.jpeg"/>
          <p:cNvPicPr>
            <a:picLocks noChangeAspect="1"/>
          </p:cNvPicPr>
          <p:nvPr/>
        </p:nvPicPr>
        <p:blipFill>
          <a:blip r:embed="rId8"/>
          <a:srcRect t="19146" b="19146"/>
          <a:stretch/>
        </p:blipFill>
        <p:spPr>
          <a:xfrm>
            <a:off x="4046220" y="7025640"/>
            <a:ext cx="3268980" cy="1733550"/>
          </a:xfrm>
          <a:prstGeom prst="rect">
            <a:avLst/>
          </a:prstGeom>
        </p:spPr>
      </p:pic>
      <p:sp>
        <p:nvSpPr>
          <p:cNvPr id="27" name="Text 19"/>
          <p:cNvSpPr/>
          <p:nvPr/>
        </p:nvSpPr>
        <p:spPr>
          <a:xfrm>
            <a:off x="4183380" y="8832342"/>
            <a:ext cx="2994660" cy="320040"/>
          </a:xfrm>
          <a:prstGeom prst="rect">
            <a:avLst/>
          </a:prstGeom>
          <a:noFill/>
          <a:ln/>
        </p:spPr>
        <p:txBody>
          <a:bodyPr wrap="square" lIns="0" tIns="0" rIns="0" bIns="0" rtlCol="0" anchor="t"/>
          <a:lstStyle/>
          <a:p>
            <a:pPr marL="0" indent="0" algn="ctr">
              <a:buNone/>
            </a:pPr>
            <a:r>
              <a:rPr lang="en-US" sz="1000" b="1">
                <a:solidFill>
                  <a:srgbClr val="2C3E50"/>
                </a:solidFill>
                <a:latin typeface="Georgia" panose="02040502050405020303" pitchFamily="18" charset="0"/>
                <a:ea typeface="Georgia" pitchFamily="34" charset="-122"/>
                <a:cs typeface="Georgia" pitchFamily="34" charset="-120"/>
              </a:rPr>
              <a:t>3625 Gordon Dr</a:t>
            </a:r>
            <a:endParaRPr lang="en-US" sz="1000"/>
          </a:p>
        </p:txBody>
      </p:sp>
      <p:sp>
        <p:nvSpPr>
          <p:cNvPr id="28" name="Text 20"/>
          <p:cNvSpPr/>
          <p:nvPr/>
        </p:nvSpPr>
        <p:spPr>
          <a:xfrm>
            <a:off x="4183380" y="9082340"/>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Georgia" pitchFamily="34" charset="-122"/>
                <a:cs typeface="Georgia" pitchFamily="34" charset="-120"/>
              </a:rPr>
              <a:t>Sold | </a:t>
            </a:r>
            <a:r>
              <a:rPr lang="en-US" sz="1000" dirty="0">
                <a:solidFill>
                  <a:srgbClr val="36454F"/>
                </a:solidFill>
                <a:latin typeface="Aptos" panose="020B0004020202020204" pitchFamily="34" charset="0"/>
                <a:ea typeface="Georgia" pitchFamily="34" charset="-122"/>
                <a:cs typeface="Georgia" pitchFamily="34" charset="-120"/>
              </a:rPr>
              <a:t>$9,850,000 </a:t>
            </a:r>
            <a:r>
              <a:rPr lang="en-US" sz="1000" dirty="0">
                <a:solidFill>
                  <a:srgbClr val="36454F"/>
                </a:solidFill>
                <a:latin typeface="Georgia" panose="02040502050405020303" pitchFamily="18" charset="0"/>
                <a:ea typeface="Georgia" pitchFamily="34" charset="-122"/>
                <a:cs typeface="Georgia" pitchFamily="34" charset="-120"/>
              </a:rPr>
              <a:t>| </a:t>
            </a:r>
            <a:r>
              <a:rPr lang="en-US" sz="1000" dirty="0">
                <a:solidFill>
                  <a:srgbClr val="566573"/>
                </a:solidFill>
                <a:latin typeface="Georgia" panose="02040502050405020303" pitchFamily="18" charset="0"/>
                <a:ea typeface="Georgia" pitchFamily="34" charset="-122"/>
                <a:cs typeface="Georgia" pitchFamily="34" charset="-120"/>
              </a:rPr>
              <a:t>Represented Seller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365760"/>
            <a:ext cx="6858000" cy="640080"/>
          </a:xfrm>
          <a:prstGeom prst="rect">
            <a:avLst/>
          </a:prstGeom>
          <a:noFill/>
          <a:ln/>
        </p:spPr>
        <p:txBody>
          <a:bodyPr wrap="square" lIns="0" tIns="0" rIns="0" bIns="0" rtlCol="0" anchor="ctr"/>
          <a:lstStyle/>
          <a:p>
            <a:pPr marL="0" indent="0" algn="ctr">
              <a:buNone/>
            </a:pPr>
            <a:r>
              <a:rPr lang="en-US" sz="1800" b="1" kern="0" spc="300">
                <a:solidFill>
                  <a:schemeClr val="bg1">
                    <a:lumMod val="50000"/>
                  </a:schemeClr>
                </a:solidFill>
                <a:latin typeface="Georgia" pitchFamily="34" charset="0"/>
                <a:ea typeface="Georgia" pitchFamily="34" charset="-122"/>
                <a:cs typeface="Georgia" pitchFamily="34" charset="-120"/>
              </a:rPr>
              <a:t>SIGNIFICANT SALES</a:t>
            </a:r>
            <a:endParaRPr lang="en-US" sz="1800">
              <a:solidFill>
                <a:schemeClr val="bg1">
                  <a:lumMod val="50000"/>
                </a:schemeClr>
              </a:solidFill>
            </a:endParaRPr>
          </a:p>
        </p:txBody>
      </p:sp>
      <p:sp>
        <p:nvSpPr>
          <p:cNvPr id="4" name="Text 2"/>
          <p:cNvSpPr/>
          <p:nvPr/>
        </p:nvSpPr>
        <p:spPr>
          <a:xfrm>
            <a:off x="6400800" y="9738360"/>
            <a:ext cx="1097280" cy="228600"/>
          </a:xfrm>
          <a:prstGeom prst="rect">
            <a:avLst/>
          </a:prstGeom>
          <a:noFill/>
          <a:ln/>
        </p:spPr>
        <p:txBody>
          <a:bodyPr wrap="square" lIns="0" tIns="0" rIns="0" bIns="0" rtlCol="0" anchor="ctr"/>
          <a:lstStyle/>
          <a:p>
            <a:pPr marL="0" indent="0" algn="r">
              <a:buNone/>
            </a:pPr>
            <a:r>
              <a:rPr lang="en-US" sz="800" dirty="0">
                <a:solidFill>
                  <a:srgbClr val="95A5A6"/>
                </a:solidFill>
                <a:latin typeface="Calibri" pitchFamily="34" charset="0"/>
                <a:ea typeface="Calibri" pitchFamily="34" charset="-122"/>
                <a:cs typeface="Calibri" pitchFamily="34" charset="-120"/>
              </a:rPr>
              <a:t>3 of 4</a:t>
            </a:r>
            <a:endParaRPr lang="en-US" sz="800" dirty="0"/>
          </a:p>
        </p:txBody>
      </p:sp>
      <p:sp>
        <p:nvSpPr>
          <p:cNvPr id="5" name="Shape 3"/>
          <p:cNvSpPr/>
          <p:nvPr/>
        </p:nvSpPr>
        <p:spPr>
          <a:xfrm>
            <a:off x="457200" y="1234440"/>
            <a:ext cx="3268980" cy="2667000"/>
          </a:xfrm>
          <a:prstGeom prst="rect">
            <a:avLst/>
          </a:prstGeom>
          <a:solidFill>
            <a:srgbClr val="FFFFFF"/>
          </a:solidFill>
          <a:ln/>
        </p:spPr>
        <p:txBody>
          <a:bodyPr/>
          <a:lstStyle/>
          <a:p>
            <a:endParaRPr lang="en-US"/>
          </a:p>
        </p:txBody>
      </p:sp>
      <p:pic>
        <p:nvPicPr>
          <p:cNvPr id="6" name="Image 0" descr="/agent/turn1/workspace/input/files/file_8f3f9ea6/images/13.jpeg"/>
          <p:cNvPicPr>
            <a:picLocks noChangeAspect="1"/>
          </p:cNvPicPr>
          <p:nvPr/>
        </p:nvPicPr>
        <p:blipFill>
          <a:blip r:embed="rId3"/>
          <a:srcRect t="8228" b="8228"/>
          <a:stretch/>
        </p:blipFill>
        <p:spPr>
          <a:xfrm>
            <a:off x="457200" y="1234440"/>
            <a:ext cx="3268980" cy="1733550"/>
          </a:xfrm>
          <a:prstGeom prst="rect">
            <a:avLst/>
          </a:prstGeom>
        </p:spPr>
      </p:pic>
      <p:sp>
        <p:nvSpPr>
          <p:cNvPr id="7" name="Text 4"/>
          <p:cNvSpPr/>
          <p:nvPr/>
        </p:nvSpPr>
        <p:spPr>
          <a:xfrm>
            <a:off x="594360" y="3041142"/>
            <a:ext cx="2994660" cy="320040"/>
          </a:xfrm>
          <a:prstGeom prst="rect">
            <a:avLst/>
          </a:prstGeom>
          <a:noFill/>
          <a:ln/>
        </p:spPr>
        <p:txBody>
          <a:bodyPr wrap="square" lIns="0" tIns="0" rIns="0" bIns="0" rtlCol="0" anchor="t"/>
          <a:lstStyle/>
          <a:p>
            <a:pPr marL="0" indent="0" algn="ctr">
              <a:buNone/>
            </a:pPr>
            <a:r>
              <a:rPr lang="en-US" sz="1000" b="1">
                <a:solidFill>
                  <a:srgbClr val="2C3E50"/>
                </a:solidFill>
                <a:latin typeface="Georgia" panose="02040502050405020303" pitchFamily="18" charset="0"/>
                <a:ea typeface="Georgia" pitchFamily="34" charset="-122"/>
                <a:cs typeface="Georgia" pitchFamily="34" charset="-120"/>
              </a:rPr>
              <a:t>6897 Grenadier Boulevard #704</a:t>
            </a:r>
            <a:endParaRPr lang="en-US" sz="1000"/>
          </a:p>
        </p:txBody>
      </p:sp>
      <p:sp>
        <p:nvSpPr>
          <p:cNvPr id="8" name="Text 5"/>
          <p:cNvSpPr/>
          <p:nvPr/>
        </p:nvSpPr>
        <p:spPr>
          <a:xfrm>
            <a:off x="594360" y="3261360"/>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Georgia" pitchFamily="34" charset="-122"/>
                <a:cs typeface="Georgia" pitchFamily="34" charset="-120"/>
              </a:rPr>
              <a:t>Sold | </a:t>
            </a:r>
            <a:r>
              <a:rPr lang="en-US" sz="1000" dirty="0">
                <a:solidFill>
                  <a:srgbClr val="36454F"/>
                </a:solidFill>
                <a:latin typeface="Aptos" panose="020B0004020202020204" pitchFamily="34" charset="0"/>
                <a:ea typeface="Georgia" pitchFamily="34" charset="-122"/>
                <a:cs typeface="Georgia" pitchFamily="34" charset="-120"/>
              </a:rPr>
              <a:t>$9,250,000 </a:t>
            </a:r>
            <a:r>
              <a:rPr lang="en-US" sz="1000" dirty="0">
                <a:solidFill>
                  <a:srgbClr val="36454F"/>
                </a:solidFill>
                <a:latin typeface="Georgia" panose="02040502050405020303" pitchFamily="18" charset="0"/>
                <a:ea typeface="Georgia" pitchFamily="34" charset="-122"/>
                <a:cs typeface="Georgia" pitchFamily="34" charset="-120"/>
              </a:rPr>
              <a:t>| </a:t>
            </a:r>
            <a:r>
              <a:rPr lang="en-US" sz="1000" dirty="0">
                <a:solidFill>
                  <a:srgbClr val="566573"/>
                </a:solidFill>
                <a:latin typeface="Georgia" panose="02040502050405020303" pitchFamily="18" charset="0"/>
                <a:ea typeface="Georgia" pitchFamily="34" charset="-122"/>
                <a:cs typeface="Georgia" pitchFamily="34" charset="-120"/>
              </a:rPr>
              <a:t>Represented Seller</a:t>
            </a:r>
            <a:endParaRPr lang="en-US" sz="900" dirty="0"/>
          </a:p>
        </p:txBody>
      </p:sp>
      <p:sp>
        <p:nvSpPr>
          <p:cNvPr id="9" name="Shape 6"/>
          <p:cNvSpPr/>
          <p:nvPr/>
        </p:nvSpPr>
        <p:spPr>
          <a:xfrm>
            <a:off x="4046220" y="1234440"/>
            <a:ext cx="3268980" cy="2667000"/>
          </a:xfrm>
          <a:prstGeom prst="rect">
            <a:avLst/>
          </a:prstGeom>
          <a:solidFill>
            <a:srgbClr val="FFFFFF"/>
          </a:solidFill>
          <a:ln/>
        </p:spPr>
        <p:txBody>
          <a:bodyPr/>
          <a:lstStyle/>
          <a:p>
            <a:endParaRPr lang="en-US"/>
          </a:p>
        </p:txBody>
      </p:sp>
      <p:pic>
        <p:nvPicPr>
          <p:cNvPr id="10" name="Image 1" descr="/agent/turn1/workspace/input/files/file_8f3f9ea6/images/14.jpeg"/>
          <p:cNvPicPr>
            <a:picLocks noChangeAspect="1"/>
          </p:cNvPicPr>
          <p:nvPr/>
        </p:nvPicPr>
        <p:blipFill>
          <a:blip r:embed="rId4"/>
          <a:srcRect t="11758" b="11758"/>
          <a:stretch/>
        </p:blipFill>
        <p:spPr>
          <a:xfrm>
            <a:off x="4046220" y="1234440"/>
            <a:ext cx="3268980" cy="1733550"/>
          </a:xfrm>
          <a:prstGeom prst="rect">
            <a:avLst/>
          </a:prstGeom>
        </p:spPr>
      </p:pic>
      <p:sp>
        <p:nvSpPr>
          <p:cNvPr id="11" name="Text 7"/>
          <p:cNvSpPr/>
          <p:nvPr/>
        </p:nvSpPr>
        <p:spPr>
          <a:xfrm>
            <a:off x="4183380" y="3041142"/>
            <a:ext cx="2994660" cy="320040"/>
          </a:xfrm>
          <a:prstGeom prst="rect">
            <a:avLst/>
          </a:prstGeom>
          <a:noFill/>
          <a:ln/>
        </p:spPr>
        <p:txBody>
          <a:bodyPr wrap="square" lIns="0" tIns="0" rIns="0" bIns="0" rtlCol="0" anchor="t"/>
          <a:lstStyle/>
          <a:p>
            <a:pPr marL="0" indent="0" algn="ctr">
              <a:buNone/>
            </a:pPr>
            <a:r>
              <a:rPr lang="en-US" sz="1000" b="1">
                <a:solidFill>
                  <a:srgbClr val="2C3E50"/>
                </a:solidFill>
                <a:latin typeface="Georgia" panose="02040502050405020303" pitchFamily="18" charset="0"/>
                <a:ea typeface="Georgia" pitchFamily="34" charset="-122"/>
                <a:cs typeface="Georgia" pitchFamily="34" charset="-120"/>
              </a:rPr>
              <a:t>53 Broad Avenue South</a:t>
            </a:r>
            <a:endParaRPr lang="en-US" sz="1000"/>
          </a:p>
        </p:txBody>
      </p:sp>
      <p:sp>
        <p:nvSpPr>
          <p:cNvPr id="12" name="Text 8"/>
          <p:cNvSpPr/>
          <p:nvPr/>
        </p:nvSpPr>
        <p:spPr>
          <a:xfrm>
            <a:off x="4183380" y="3261360"/>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Georgia" pitchFamily="34" charset="-122"/>
                <a:cs typeface="Georgia" pitchFamily="34" charset="-120"/>
              </a:rPr>
              <a:t>Sold | </a:t>
            </a:r>
            <a:r>
              <a:rPr lang="en-US" sz="1000" dirty="0">
                <a:solidFill>
                  <a:srgbClr val="36454F"/>
                </a:solidFill>
                <a:latin typeface="Aptos" panose="020B0004020202020204" pitchFamily="34" charset="0"/>
                <a:ea typeface="Georgia" pitchFamily="34" charset="-122"/>
                <a:cs typeface="Georgia" pitchFamily="34" charset="-120"/>
              </a:rPr>
              <a:t>$9,250,000 </a:t>
            </a:r>
            <a:r>
              <a:rPr lang="en-US" sz="1000" dirty="0">
                <a:solidFill>
                  <a:srgbClr val="36454F"/>
                </a:solidFill>
                <a:latin typeface="Georgia" panose="02040502050405020303" pitchFamily="18" charset="0"/>
                <a:ea typeface="Georgia" pitchFamily="34" charset="-122"/>
                <a:cs typeface="Georgia" pitchFamily="34" charset="-120"/>
              </a:rPr>
              <a:t>| </a:t>
            </a:r>
            <a:r>
              <a:rPr lang="en-US" sz="1000" dirty="0">
                <a:solidFill>
                  <a:srgbClr val="566573"/>
                </a:solidFill>
                <a:latin typeface="Georgia" panose="02040502050405020303" pitchFamily="18" charset="0"/>
                <a:ea typeface="Georgia" pitchFamily="34" charset="-122"/>
                <a:cs typeface="Georgia" pitchFamily="34" charset="-120"/>
              </a:rPr>
              <a:t>Represented Buyer</a:t>
            </a:r>
            <a:endParaRPr lang="en-US" sz="900" dirty="0"/>
          </a:p>
        </p:txBody>
      </p:sp>
      <p:sp>
        <p:nvSpPr>
          <p:cNvPr id="13" name="Shape 9"/>
          <p:cNvSpPr/>
          <p:nvPr/>
        </p:nvSpPr>
        <p:spPr>
          <a:xfrm>
            <a:off x="457200" y="4130040"/>
            <a:ext cx="3268980" cy="2667000"/>
          </a:xfrm>
          <a:prstGeom prst="rect">
            <a:avLst/>
          </a:prstGeom>
          <a:solidFill>
            <a:srgbClr val="FFFFFF"/>
          </a:solidFill>
          <a:ln/>
        </p:spPr>
        <p:txBody>
          <a:bodyPr/>
          <a:lstStyle/>
          <a:p>
            <a:endParaRPr lang="en-US"/>
          </a:p>
        </p:txBody>
      </p:sp>
      <p:pic>
        <p:nvPicPr>
          <p:cNvPr id="14" name="Image 2" descr="/agent/turn1/workspace/input/files/file_8f3f9ea6/images/15.jpeg"/>
          <p:cNvPicPr>
            <a:picLocks noChangeAspect="1"/>
          </p:cNvPicPr>
          <p:nvPr/>
        </p:nvPicPr>
        <p:blipFill>
          <a:blip r:embed="rId5"/>
          <a:srcRect t="8610" b="8610"/>
          <a:stretch/>
        </p:blipFill>
        <p:spPr>
          <a:xfrm>
            <a:off x="457200" y="4130040"/>
            <a:ext cx="3268980" cy="1733550"/>
          </a:xfrm>
          <a:prstGeom prst="rect">
            <a:avLst/>
          </a:prstGeom>
        </p:spPr>
      </p:pic>
      <p:sp>
        <p:nvSpPr>
          <p:cNvPr id="15" name="Text 10"/>
          <p:cNvSpPr/>
          <p:nvPr/>
        </p:nvSpPr>
        <p:spPr>
          <a:xfrm>
            <a:off x="594360" y="5936742"/>
            <a:ext cx="2994660" cy="320040"/>
          </a:xfrm>
          <a:prstGeom prst="rect">
            <a:avLst/>
          </a:prstGeom>
          <a:noFill/>
          <a:ln/>
        </p:spPr>
        <p:txBody>
          <a:bodyPr wrap="square" lIns="0" tIns="0" rIns="0" bIns="0" rtlCol="0" anchor="t"/>
          <a:lstStyle/>
          <a:p>
            <a:pPr marL="0" indent="0" algn="ctr">
              <a:buNone/>
            </a:pPr>
            <a:r>
              <a:rPr lang="en-US" sz="1000" b="1">
                <a:solidFill>
                  <a:srgbClr val="2C3E50"/>
                </a:solidFill>
                <a:latin typeface="Georgia" panose="02040502050405020303" pitchFamily="18" charset="0"/>
                <a:ea typeface="Georgia" pitchFamily="34" charset="-122"/>
                <a:cs typeface="Georgia" pitchFamily="34" charset="-120"/>
              </a:rPr>
              <a:t>989 Admiralty Parade East</a:t>
            </a:r>
            <a:endParaRPr lang="en-US" sz="1000"/>
          </a:p>
        </p:txBody>
      </p:sp>
      <p:sp>
        <p:nvSpPr>
          <p:cNvPr id="16" name="Text 11"/>
          <p:cNvSpPr/>
          <p:nvPr/>
        </p:nvSpPr>
        <p:spPr>
          <a:xfrm>
            <a:off x="594360" y="6156960"/>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Georgia" pitchFamily="34" charset="-122"/>
                <a:cs typeface="Georgia" pitchFamily="34" charset="-120"/>
              </a:rPr>
              <a:t>Sold | </a:t>
            </a:r>
            <a:r>
              <a:rPr lang="en-US" sz="1000" dirty="0">
                <a:solidFill>
                  <a:srgbClr val="36454F"/>
                </a:solidFill>
                <a:latin typeface="Aptos" panose="020B0004020202020204" pitchFamily="34" charset="0"/>
                <a:ea typeface="Georgia" pitchFamily="34" charset="-122"/>
                <a:cs typeface="Georgia" pitchFamily="34" charset="-120"/>
              </a:rPr>
              <a:t>$8,500,000 </a:t>
            </a:r>
            <a:r>
              <a:rPr lang="en-US" sz="1000" dirty="0">
                <a:solidFill>
                  <a:srgbClr val="36454F"/>
                </a:solidFill>
                <a:latin typeface="Georgia" panose="02040502050405020303" pitchFamily="18" charset="0"/>
                <a:ea typeface="Georgia" pitchFamily="34" charset="-122"/>
                <a:cs typeface="Georgia" pitchFamily="34" charset="-120"/>
              </a:rPr>
              <a:t>| </a:t>
            </a:r>
            <a:r>
              <a:rPr lang="en-US" sz="1000" dirty="0">
                <a:solidFill>
                  <a:srgbClr val="566573"/>
                </a:solidFill>
                <a:latin typeface="Georgia" panose="02040502050405020303" pitchFamily="18" charset="0"/>
                <a:ea typeface="Georgia" pitchFamily="34" charset="-122"/>
                <a:cs typeface="Georgia" pitchFamily="34" charset="-120"/>
              </a:rPr>
              <a:t>Represented Seller &amp; Buyer</a:t>
            </a:r>
            <a:endParaRPr lang="en-US" sz="900" dirty="0"/>
          </a:p>
        </p:txBody>
      </p:sp>
      <p:sp>
        <p:nvSpPr>
          <p:cNvPr id="17" name="Shape 12"/>
          <p:cNvSpPr/>
          <p:nvPr/>
        </p:nvSpPr>
        <p:spPr>
          <a:xfrm>
            <a:off x="4046220" y="4130040"/>
            <a:ext cx="3268980" cy="2667000"/>
          </a:xfrm>
          <a:prstGeom prst="rect">
            <a:avLst/>
          </a:prstGeom>
          <a:solidFill>
            <a:srgbClr val="FFFFFF"/>
          </a:solidFill>
          <a:ln/>
        </p:spPr>
        <p:txBody>
          <a:bodyPr/>
          <a:lstStyle/>
          <a:p>
            <a:endParaRPr lang="en-US"/>
          </a:p>
        </p:txBody>
      </p:sp>
      <p:pic>
        <p:nvPicPr>
          <p:cNvPr id="18" name="Image 3" descr="/agent/turn1/workspace/input/files/file_8f3f9ea6/images/16.jpeg"/>
          <p:cNvPicPr>
            <a:picLocks noChangeAspect="1"/>
          </p:cNvPicPr>
          <p:nvPr/>
        </p:nvPicPr>
        <p:blipFill>
          <a:blip r:embed="rId6"/>
          <a:srcRect t="13109" b="13109"/>
          <a:stretch/>
        </p:blipFill>
        <p:spPr>
          <a:xfrm>
            <a:off x="4046220" y="4130040"/>
            <a:ext cx="3268980" cy="1733550"/>
          </a:xfrm>
          <a:prstGeom prst="rect">
            <a:avLst/>
          </a:prstGeom>
        </p:spPr>
      </p:pic>
      <p:sp>
        <p:nvSpPr>
          <p:cNvPr id="19" name="Text 13"/>
          <p:cNvSpPr/>
          <p:nvPr/>
        </p:nvSpPr>
        <p:spPr>
          <a:xfrm>
            <a:off x="4183380" y="5936742"/>
            <a:ext cx="2994660" cy="320040"/>
          </a:xfrm>
          <a:prstGeom prst="rect">
            <a:avLst/>
          </a:prstGeom>
          <a:noFill/>
          <a:ln/>
        </p:spPr>
        <p:txBody>
          <a:bodyPr wrap="square" lIns="0" tIns="0" rIns="0" bIns="0" rtlCol="0" anchor="t"/>
          <a:lstStyle/>
          <a:p>
            <a:pPr marL="0" indent="0" algn="ctr">
              <a:buNone/>
            </a:pPr>
            <a:r>
              <a:rPr lang="en-US" sz="1000" b="1">
                <a:solidFill>
                  <a:srgbClr val="2C3E50"/>
                </a:solidFill>
                <a:latin typeface="Georgia" panose="02040502050405020303" pitchFamily="18" charset="0"/>
                <a:ea typeface="Georgia" pitchFamily="34" charset="-122"/>
                <a:cs typeface="Georgia" pitchFamily="34" charset="-120"/>
              </a:rPr>
              <a:t>10 Seagate Drive #6 North</a:t>
            </a:r>
            <a:endParaRPr lang="en-US" sz="1000"/>
          </a:p>
        </p:txBody>
      </p:sp>
      <p:sp>
        <p:nvSpPr>
          <p:cNvPr id="20" name="Text 14"/>
          <p:cNvSpPr/>
          <p:nvPr/>
        </p:nvSpPr>
        <p:spPr>
          <a:xfrm>
            <a:off x="4183380" y="6156960"/>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Georgia" pitchFamily="34" charset="-122"/>
                <a:cs typeface="Georgia" pitchFamily="34" charset="-120"/>
              </a:rPr>
              <a:t>Sold | </a:t>
            </a:r>
            <a:r>
              <a:rPr lang="en-US" sz="1000" dirty="0">
                <a:solidFill>
                  <a:srgbClr val="36454F"/>
                </a:solidFill>
                <a:latin typeface="Aptos" panose="020B0004020202020204" pitchFamily="34" charset="0"/>
                <a:ea typeface="Georgia" pitchFamily="34" charset="-122"/>
                <a:cs typeface="Georgia" pitchFamily="34" charset="-120"/>
              </a:rPr>
              <a:t>$8,375,000 </a:t>
            </a:r>
            <a:r>
              <a:rPr lang="en-US" sz="1000" dirty="0">
                <a:solidFill>
                  <a:srgbClr val="36454F"/>
                </a:solidFill>
                <a:latin typeface="Georgia" panose="02040502050405020303" pitchFamily="18" charset="0"/>
                <a:ea typeface="Georgia" pitchFamily="34" charset="-122"/>
                <a:cs typeface="Georgia" pitchFamily="34" charset="-120"/>
              </a:rPr>
              <a:t>| </a:t>
            </a:r>
            <a:r>
              <a:rPr lang="en-US" sz="1000" dirty="0">
                <a:solidFill>
                  <a:srgbClr val="566573"/>
                </a:solidFill>
                <a:latin typeface="Georgia" panose="02040502050405020303" pitchFamily="18" charset="0"/>
                <a:ea typeface="Georgia" pitchFamily="34" charset="-122"/>
                <a:cs typeface="Georgia" pitchFamily="34" charset="-120"/>
              </a:rPr>
              <a:t>Represented Buyer</a:t>
            </a:r>
            <a:endParaRPr lang="en-US" sz="900" dirty="0"/>
          </a:p>
        </p:txBody>
      </p:sp>
      <p:sp>
        <p:nvSpPr>
          <p:cNvPr id="21" name="Shape 15"/>
          <p:cNvSpPr/>
          <p:nvPr/>
        </p:nvSpPr>
        <p:spPr>
          <a:xfrm>
            <a:off x="457200" y="7025640"/>
            <a:ext cx="3268980" cy="2667000"/>
          </a:xfrm>
          <a:prstGeom prst="rect">
            <a:avLst/>
          </a:prstGeom>
          <a:solidFill>
            <a:srgbClr val="FFFFFF"/>
          </a:solidFill>
          <a:ln/>
        </p:spPr>
        <p:txBody>
          <a:bodyPr/>
          <a:lstStyle/>
          <a:p>
            <a:endParaRPr lang="en-US"/>
          </a:p>
        </p:txBody>
      </p:sp>
      <p:pic>
        <p:nvPicPr>
          <p:cNvPr id="22" name="Image 4" descr="/agent/turn1/workspace/input/files/file_8f3f9ea6/images/17.jpeg"/>
          <p:cNvPicPr>
            <a:picLocks noChangeAspect="1"/>
          </p:cNvPicPr>
          <p:nvPr/>
        </p:nvPicPr>
        <p:blipFill>
          <a:blip r:embed="rId7"/>
          <a:srcRect t="8986" b="8986"/>
          <a:stretch/>
        </p:blipFill>
        <p:spPr>
          <a:xfrm>
            <a:off x="457200" y="7025640"/>
            <a:ext cx="3268980" cy="1733550"/>
          </a:xfrm>
          <a:prstGeom prst="rect">
            <a:avLst/>
          </a:prstGeom>
        </p:spPr>
      </p:pic>
      <p:sp>
        <p:nvSpPr>
          <p:cNvPr id="23" name="Text 16"/>
          <p:cNvSpPr/>
          <p:nvPr/>
        </p:nvSpPr>
        <p:spPr>
          <a:xfrm>
            <a:off x="594360" y="8832342"/>
            <a:ext cx="2994660" cy="320040"/>
          </a:xfrm>
          <a:prstGeom prst="rect">
            <a:avLst/>
          </a:prstGeom>
          <a:noFill/>
          <a:ln/>
        </p:spPr>
        <p:txBody>
          <a:bodyPr wrap="square" lIns="0" tIns="0" rIns="0" bIns="0" rtlCol="0" anchor="t"/>
          <a:lstStyle/>
          <a:p>
            <a:pPr marL="0" indent="0" algn="ctr">
              <a:buNone/>
            </a:pPr>
            <a:r>
              <a:rPr lang="en-US" sz="1000" b="1">
                <a:solidFill>
                  <a:srgbClr val="2C3E50"/>
                </a:solidFill>
                <a:latin typeface="Georgia" panose="02040502050405020303" pitchFamily="18" charset="0"/>
                <a:ea typeface="Georgia" pitchFamily="34" charset="-122"/>
                <a:cs typeface="Georgia" pitchFamily="34" charset="-120"/>
              </a:rPr>
              <a:t>375 Kings Town Drive</a:t>
            </a:r>
            <a:endParaRPr lang="en-US" sz="1000"/>
          </a:p>
        </p:txBody>
      </p:sp>
      <p:sp>
        <p:nvSpPr>
          <p:cNvPr id="24" name="Text 17"/>
          <p:cNvSpPr/>
          <p:nvPr/>
        </p:nvSpPr>
        <p:spPr>
          <a:xfrm>
            <a:off x="594360" y="9052560"/>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Georgia" pitchFamily="34" charset="-122"/>
                <a:cs typeface="Georgia" pitchFamily="34" charset="-120"/>
              </a:rPr>
              <a:t>Sold | </a:t>
            </a:r>
            <a:r>
              <a:rPr lang="en-US" sz="1000" dirty="0">
                <a:solidFill>
                  <a:srgbClr val="36454F"/>
                </a:solidFill>
                <a:latin typeface="Aptos" panose="020B0004020202020204" pitchFamily="34" charset="0"/>
                <a:ea typeface="Georgia" pitchFamily="34" charset="-122"/>
                <a:cs typeface="Georgia" pitchFamily="34" charset="-120"/>
              </a:rPr>
              <a:t>$8,100,000 </a:t>
            </a:r>
            <a:r>
              <a:rPr lang="en-US" sz="1000" dirty="0">
                <a:solidFill>
                  <a:srgbClr val="36454F"/>
                </a:solidFill>
                <a:latin typeface="Georgia" panose="02040502050405020303" pitchFamily="18" charset="0"/>
                <a:ea typeface="Georgia" pitchFamily="34" charset="-122"/>
                <a:cs typeface="Georgia" pitchFamily="34" charset="-120"/>
              </a:rPr>
              <a:t>| </a:t>
            </a:r>
            <a:r>
              <a:rPr lang="en-US" sz="1000" dirty="0">
                <a:solidFill>
                  <a:srgbClr val="566573"/>
                </a:solidFill>
                <a:latin typeface="Georgia" panose="02040502050405020303" pitchFamily="18" charset="0"/>
                <a:ea typeface="Georgia" pitchFamily="34" charset="-122"/>
                <a:cs typeface="Georgia" pitchFamily="34" charset="-120"/>
              </a:rPr>
              <a:t>Represented Buyer</a:t>
            </a:r>
            <a:endParaRPr lang="en-US" sz="900" dirty="0"/>
          </a:p>
        </p:txBody>
      </p:sp>
      <p:sp>
        <p:nvSpPr>
          <p:cNvPr id="25" name="Shape 18"/>
          <p:cNvSpPr/>
          <p:nvPr/>
        </p:nvSpPr>
        <p:spPr>
          <a:xfrm>
            <a:off x="4046220" y="7025640"/>
            <a:ext cx="3268980" cy="2667000"/>
          </a:xfrm>
          <a:prstGeom prst="rect">
            <a:avLst/>
          </a:prstGeom>
          <a:solidFill>
            <a:srgbClr val="FFFFFF"/>
          </a:solidFill>
          <a:ln/>
        </p:spPr>
        <p:txBody>
          <a:bodyPr/>
          <a:lstStyle/>
          <a:p>
            <a:endParaRPr lang="en-US"/>
          </a:p>
        </p:txBody>
      </p:sp>
      <p:pic>
        <p:nvPicPr>
          <p:cNvPr id="26" name="Image 5" descr="/agent/turn1/workspace/input/files/file_8f3f9ea6/images/18.jpeg"/>
          <p:cNvPicPr>
            <a:picLocks noChangeAspect="1"/>
          </p:cNvPicPr>
          <p:nvPr/>
        </p:nvPicPr>
        <p:blipFill>
          <a:blip r:embed="rId8"/>
          <a:srcRect t="12704" b="12704"/>
          <a:stretch/>
        </p:blipFill>
        <p:spPr>
          <a:xfrm>
            <a:off x="4046220" y="7025640"/>
            <a:ext cx="3268980" cy="1733550"/>
          </a:xfrm>
          <a:prstGeom prst="rect">
            <a:avLst/>
          </a:prstGeom>
        </p:spPr>
      </p:pic>
      <p:sp>
        <p:nvSpPr>
          <p:cNvPr id="27" name="Text 19"/>
          <p:cNvSpPr/>
          <p:nvPr/>
        </p:nvSpPr>
        <p:spPr>
          <a:xfrm>
            <a:off x="4183380" y="8832342"/>
            <a:ext cx="2994660" cy="320040"/>
          </a:xfrm>
          <a:prstGeom prst="rect">
            <a:avLst/>
          </a:prstGeom>
          <a:noFill/>
          <a:ln/>
        </p:spPr>
        <p:txBody>
          <a:bodyPr wrap="square" lIns="0" tIns="0" rIns="0" bIns="0" rtlCol="0" anchor="t"/>
          <a:lstStyle/>
          <a:p>
            <a:pPr marL="0" indent="0" algn="ctr">
              <a:buNone/>
            </a:pPr>
            <a:r>
              <a:rPr lang="en-US" sz="1000" b="1">
                <a:solidFill>
                  <a:srgbClr val="2C3E50"/>
                </a:solidFill>
                <a:latin typeface="Georgia" panose="02040502050405020303" pitchFamily="18" charset="0"/>
                <a:ea typeface="Georgia" pitchFamily="34" charset="-122"/>
                <a:cs typeface="Georgia" pitchFamily="34" charset="-120"/>
              </a:rPr>
              <a:t>3675 Fort Charles Drive</a:t>
            </a:r>
            <a:endParaRPr lang="en-US" sz="1000"/>
          </a:p>
        </p:txBody>
      </p:sp>
      <p:sp>
        <p:nvSpPr>
          <p:cNvPr id="28" name="Text 20"/>
          <p:cNvSpPr/>
          <p:nvPr/>
        </p:nvSpPr>
        <p:spPr>
          <a:xfrm>
            <a:off x="4183380" y="9052560"/>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Georgia" pitchFamily="34" charset="-122"/>
                <a:cs typeface="Georgia" pitchFamily="34" charset="-120"/>
              </a:rPr>
              <a:t>Sold | </a:t>
            </a:r>
            <a:r>
              <a:rPr lang="en-US" sz="1000" dirty="0">
                <a:solidFill>
                  <a:srgbClr val="36454F"/>
                </a:solidFill>
                <a:latin typeface="Aptos" panose="020B0004020202020204" pitchFamily="34" charset="0"/>
                <a:ea typeface="Georgia" pitchFamily="34" charset="-122"/>
                <a:cs typeface="Georgia" pitchFamily="34" charset="-120"/>
              </a:rPr>
              <a:t>$8,025,000 </a:t>
            </a:r>
            <a:r>
              <a:rPr lang="en-US" sz="1000" dirty="0">
                <a:solidFill>
                  <a:srgbClr val="36454F"/>
                </a:solidFill>
                <a:latin typeface="Georgia" panose="02040502050405020303" pitchFamily="18" charset="0"/>
                <a:ea typeface="Georgia" pitchFamily="34" charset="-122"/>
                <a:cs typeface="Georgia" pitchFamily="34" charset="-120"/>
              </a:rPr>
              <a:t>| </a:t>
            </a:r>
            <a:r>
              <a:rPr lang="en-US" sz="1000" dirty="0">
                <a:solidFill>
                  <a:srgbClr val="566573"/>
                </a:solidFill>
                <a:latin typeface="Georgia" panose="02040502050405020303" pitchFamily="18" charset="0"/>
                <a:ea typeface="Georgia" pitchFamily="34" charset="-122"/>
                <a:cs typeface="Georgia" pitchFamily="34" charset="-120"/>
              </a:rPr>
              <a:t>Represented Buyer</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365760"/>
            <a:ext cx="6858000" cy="640080"/>
          </a:xfrm>
          <a:prstGeom prst="rect">
            <a:avLst/>
          </a:prstGeom>
          <a:noFill/>
          <a:ln/>
        </p:spPr>
        <p:txBody>
          <a:bodyPr wrap="square" lIns="0" tIns="0" rIns="0" bIns="0" rtlCol="0" anchor="ctr"/>
          <a:lstStyle/>
          <a:p>
            <a:pPr marL="0" indent="0" algn="ctr">
              <a:buNone/>
            </a:pPr>
            <a:r>
              <a:rPr lang="en-US" sz="1800" b="1" kern="0" spc="300">
                <a:solidFill>
                  <a:schemeClr val="bg1">
                    <a:lumMod val="50000"/>
                  </a:schemeClr>
                </a:solidFill>
                <a:latin typeface="Georgia" pitchFamily="34" charset="0"/>
                <a:ea typeface="Georgia" pitchFamily="34" charset="-122"/>
                <a:cs typeface="Georgia" pitchFamily="34" charset="-120"/>
              </a:rPr>
              <a:t>SIGNIFICANT SALES</a:t>
            </a:r>
            <a:endParaRPr lang="en-US" sz="1800">
              <a:solidFill>
                <a:schemeClr val="bg1">
                  <a:lumMod val="50000"/>
                </a:schemeClr>
              </a:solidFill>
            </a:endParaRPr>
          </a:p>
        </p:txBody>
      </p:sp>
      <p:sp>
        <p:nvSpPr>
          <p:cNvPr id="4" name="Text 2"/>
          <p:cNvSpPr/>
          <p:nvPr/>
        </p:nvSpPr>
        <p:spPr>
          <a:xfrm>
            <a:off x="6400800" y="9738360"/>
            <a:ext cx="1097280" cy="228600"/>
          </a:xfrm>
          <a:prstGeom prst="rect">
            <a:avLst/>
          </a:prstGeom>
          <a:noFill/>
          <a:ln/>
        </p:spPr>
        <p:txBody>
          <a:bodyPr wrap="square" lIns="0" tIns="0" rIns="0" bIns="0" rtlCol="0" anchor="ctr"/>
          <a:lstStyle/>
          <a:p>
            <a:pPr marL="0" indent="0" algn="r">
              <a:buNone/>
            </a:pPr>
            <a:r>
              <a:rPr lang="en-US" sz="800" dirty="0">
                <a:solidFill>
                  <a:srgbClr val="95A5A6"/>
                </a:solidFill>
                <a:latin typeface="Calibri" pitchFamily="34" charset="0"/>
                <a:ea typeface="Calibri" pitchFamily="34" charset="-122"/>
                <a:cs typeface="Calibri" pitchFamily="34" charset="-120"/>
              </a:rPr>
              <a:t>4 of 4</a:t>
            </a:r>
            <a:endParaRPr lang="en-US" sz="800" dirty="0"/>
          </a:p>
        </p:txBody>
      </p:sp>
      <p:sp>
        <p:nvSpPr>
          <p:cNvPr id="5" name="Shape 3"/>
          <p:cNvSpPr/>
          <p:nvPr/>
        </p:nvSpPr>
        <p:spPr>
          <a:xfrm>
            <a:off x="457200" y="1234440"/>
            <a:ext cx="3268980" cy="2667000"/>
          </a:xfrm>
          <a:prstGeom prst="rect">
            <a:avLst/>
          </a:prstGeom>
          <a:solidFill>
            <a:srgbClr val="FFFFFF"/>
          </a:solidFill>
          <a:ln/>
        </p:spPr>
        <p:txBody>
          <a:bodyPr/>
          <a:lstStyle/>
          <a:p>
            <a:endParaRPr lang="en-US"/>
          </a:p>
        </p:txBody>
      </p:sp>
      <p:pic>
        <p:nvPicPr>
          <p:cNvPr id="6" name="Image 0" descr="/agent/turn1/workspace/input/files/file_8f3f9ea6/images/19.jpeg"/>
          <p:cNvPicPr>
            <a:picLocks noChangeAspect="1"/>
          </p:cNvPicPr>
          <p:nvPr/>
        </p:nvPicPr>
        <p:blipFill>
          <a:blip r:embed="rId3"/>
          <a:srcRect t="9109" b="9109"/>
          <a:stretch/>
        </p:blipFill>
        <p:spPr>
          <a:xfrm>
            <a:off x="457200" y="1234440"/>
            <a:ext cx="3268980" cy="1733550"/>
          </a:xfrm>
          <a:prstGeom prst="rect">
            <a:avLst/>
          </a:prstGeom>
        </p:spPr>
      </p:pic>
      <p:sp>
        <p:nvSpPr>
          <p:cNvPr id="7" name="Text 4"/>
          <p:cNvSpPr/>
          <p:nvPr/>
        </p:nvSpPr>
        <p:spPr>
          <a:xfrm>
            <a:off x="594360" y="3041142"/>
            <a:ext cx="2994660" cy="320040"/>
          </a:xfrm>
          <a:prstGeom prst="rect">
            <a:avLst/>
          </a:prstGeom>
          <a:noFill/>
          <a:ln/>
        </p:spPr>
        <p:txBody>
          <a:bodyPr wrap="square" lIns="0" tIns="0" rIns="0" bIns="0" rtlCol="0" anchor="t"/>
          <a:lstStyle/>
          <a:p>
            <a:pPr marL="0" indent="0" algn="ctr">
              <a:buNone/>
            </a:pPr>
            <a:r>
              <a:rPr lang="en-US" sz="1000" b="1">
                <a:solidFill>
                  <a:srgbClr val="2C3E50"/>
                </a:solidFill>
                <a:latin typeface="Georgia" panose="02040502050405020303" pitchFamily="18" charset="0"/>
                <a:ea typeface="Georgia" pitchFamily="34" charset="-122"/>
                <a:cs typeface="Georgia" pitchFamily="34" charset="-120"/>
              </a:rPr>
              <a:t>1203 Spyglass Lane</a:t>
            </a:r>
            <a:endParaRPr lang="en-US" sz="1000"/>
          </a:p>
        </p:txBody>
      </p:sp>
      <p:sp>
        <p:nvSpPr>
          <p:cNvPr id="8" name="Text 5"/>
          <p:cNvSpPr/>
          <p:nvPr/>
        </p:nvSpPr>
        <p:spPr>
          <a:xfrm>
            <a:off x="594360" y="3261360"/>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Georgia" pitchFamily="34" charset="-122"/>
                <a:cs typeface="Georgia" pitchFamily="34" charset="-120"/>
              </a:rPr>
              <a:t>Sold | </a:t>
            </a:r>
            <a:r>
              <a:rPr lang="en-US" sz="1000" dirty="0">
                <a:solidFill>
                  <a:srgbClr val="36454F"/>
                </a:solidFill>
                <a:latin typeface="Aptos" panose="020B0004020202020204" pitchFamily="34" charset="0"/>
                <a:ea typeface="Georgia" pitchFamily="34" charset="-122"/>
                <a:cs typeface="Georgia" pitchFamily="34" charset="-120"/>
              </a:rPr>
              <a:t>$7,800,000 </a:t>
            </a:r>
            <a:r>
              <a:rPr lang="en-US" sz="1000" dirty="0">
                <a:solidFill>
                  <a:srgbClr val="36454F"/>
                </a:solidFill>
                <a:latin typeface="Georgia" panose="02040502050405020303" pitchFamily="18" charset="0"/>
                <a:ea typeface="Georgia" pitchFamily="34" charset="-122"/>
                <a:cs typeface="Georgia" pitchFamily="34" charset="-120"/>
              </a:rPr>
              <a:t>| </a:t>
            </a:r>
            <a:r>
              <a:rPr lang="en-US" sz="1000" dirty="0">
                <a:solidFill>
                  <a:srgbClr val="566573"/>
                </a:solidFill>
                <a:latin typeface="Georgia" panose="02040502050405020303" pitchFamily="18" charset="0"/>
                <a:ea typeface="Georgia" pitchFamily="34" charset="-122"/>
                <a:cs typeface="Georgia" pitchFamily="34" charset="-120"/>
              </a:rPr>
              <a:t>Represented Seller</a:t>
            </a:r>
            <a:endParaRPr lang="en-US" sz="900" dirty="0"/>
          </a:p>
        </p:txBody>
      </p:sp>
      <p:sp>
        <p:nvSpPr>
          <p:cNvPr id="9" name="Shape 6"/>
          <p:cNvSpPr/>
          <p:nvPr/>
        </p:nvSpPr>
        <p:spPr>
          <a:xfrm>
            <a:off x="4046220" y="1234440"/>
            <a:ext cx="3268980" cy="2667000"/>
          </a:xfrm>
          <a:prstGeom prst="rect">
            <a:avLst/>
          </a:prstGeom>
          <a:solidFill>
            <a:srgbClr val="FFFFFF"/>
          </a:solidFill>
          <a:ln/>
        </p:spPr>
        <p:txBody>
          <a:bodyPr/>
          <a:lstStyle/>
          <a:p>
            <a:endParaRPr lang="en-US"/>
          </a:p>
        </p:txBody>
      </p:sp>
      <p:pic>
        <p:nvPicPr>
          <p:cNvPr id="10" name="Image 1" descr="/agent/turn1/workspace/input/files/file_8f3f9ea6/images/20.jpeg"/>
          <p:cNvPicPr>
            <a:picLocks noChangeAspect="1"/>
          </p:cNvPicPr>
          <p:nvPr/>
        </p:nvPicPr>
        <p:blipFill>
          <a:blip r:embed="rId4"/>
          <a:srcRect t="10071" b="10071"/>
          <a:stretch/>
        </p:blipFill>
        <p:spPr>
          <a:xfrm>
            <a:off x="4046220" y="1234440"/>
            <a:ext cx="3268980" cy="1733550"/>
          </a:xfrm>
          <a:prstGeom prst="rect">
            <a:avLst/>
          </a:prstGeom>
        </p:spPr>
      </p:pic>
      <p:sp>
        <p:nvSpPr>
          <p:cNvPr id="11" name="Text 7"/>
          <p:cNvSpPr/>
          <p:nvPr/>
        </p:nvSpPr>
        <p:spPr>
          <a:xfrm>
            <a:off x="4183380" y="3041142"/>
            <a:ext cx="2994660" cy="320040"/>
          </a:xfrm>
          <a:prstGeom prst="rect">
            <a:avLst/>
          </a:prstGeom>
          <a:noFill/>
          <a:ln/>
        </p:spPr>
        <p:txBody>
          <a:bodyPr wrap="square" lIns="0" tIns="0" rIns="0" bIns="0" rtlCol="0" anchor="t"/>
          <a:lstStyle/>
          <a:p>
            <a:pPr marL="0" indent="0" algn="ctr">
              <a:buNone/>
            </a:pPr>
            <a:r>
              <a:rPr lang="en-US" sz="1000" b="1">
                <a:solidFill>
                  <a:srgbClr val="2C3E50"/>
                </a:solidFill>
                <a:latin typeface="Georgia" panose="02040502050405020303" pitchFamily="18" charset="0"/>
                <a:ea typeface="Georgia" pitchFamily="34" charset="-122"/>
                <a:cs typeface="Georgia" pitchFamily="34" charset="-120"/>
              </a:rPr>
              <a:t>1009 Admiralty Parade East</a:t>
            </a:r>
            <a:endParaRPr lang="en-US" sz="1000"/>
          </a:p>
        </p:txBody>
      </p:sp>
      <p:sp>
        <p:nvSpPr>
          <p:cNvPr id="12" name="Text 8"/>
          <p:cNvSpPr/>
          <p:nvPr/>
        </p:nvSpPr>
        <p:spPr>
          <a:xfrm>
            <a:off x="4183380" y="3261360"/>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Georgia" pitchFamily="34" charset="-122"/>
                <a:cs typeface="Georgia" pitchFamily="34" charset="-120"/>
              </a:rPr>
              <a:t>Sold |</a:t>
            </a:r>
            <a:r>
              <a:rPr lang="en-US" sz="1000" dirty="0">
                <a:solidFill>
                  <a:srgbClr val="36454F"/>
                </a:solidFill>
                <a:latin typeface="Aptos" panose="020B0004020202020204" pitchFamily="34" charset="0"/>
                <a:ea typeface="Georgia" pitchFamily="34" charset="-122"/>
                <a:cs typeface="Georgia" pitchFamily="34" charset="-120"/>
              </a:rPr>
              <a:t> $7,500,000 </a:t>
            </a:r>
            <a:r>
              <a:rPr lang="en-US" sz="1000" dirty="0">
                <a:solidFill>
                  <a:srgbClr val="36454F"/>
                </a:solidFill>
                <a:latin typeface="Georgia" panose="02040502050405020303" pitchFamily="18" charset="0"/>
                <a:ea typeface="Georgia" pitchFamily="34" charset="-122"/>
                <a:cs typeface="Georgia" pitchFamily="34" charset="-120"/>
              </a:rPr>
              <a:t>| </a:t>
            </a:r>
            <a:r>
              <a:rPr lang="en-US" sz="1000" dirty="0">
                <a:solidFill>
                  <a:srgbClr val="566573"/>
                </a:solidFill>
                <a:latin typeface="Georgia" panose="02040502050405020303" pitchFamily="18" charset="0"/>
                <a:ea typeface="Georgia" pitchFamily="34" charset="-122"/>
                <a:cs typeface="Georgia" pitchFamily="34" charset="-120"/>
              </a:rPr>
              <a:t>Represented Seller</a:t>
            </a:r>
            <a:endParaRPr lang="en-US" sz="900" dirty="0"/>
          </a:p>
        </p:txBody>
      </p:sp>
      <p:sp>
        <p:nvSpPr>
          <p:cNvPr id="13" name="Shape 9"/>
          <p:cNvSpPr/>
          <p:nvPr/>
        </p:nvSpPr>
        <p:spPr>
          <a:xfrm>
            <a:off x="457200" y="4130040"/>
            <a:ext cx="3268980" cy="2667000"/>
          </a:xfrm>
          <a:prstGeom prst="rect">
            <a:avLst/>
          </a:prstGeom>
          <a:solidFill>
            <a:srgbClr val="FFFFFF"/>
          </a:solidFill>
          <a:ln/>
        </p:spPr>
        <p:txBody>
          <a:bodyPr/>
          <a:lstStyle/>
          <a:p>
            <a:endParaRPr lang="en-US"/>
          </a:p>
        </p:txBody>
      </p:sp>
      <p:pic>
        <p:nvPicPr>
          <p:cNvPr id="14" name="Image 2" descr="/agent/turn1/workspace/input/files/file_8f3f9ea6/images/21.jpeg"/>
          <p:cNvPicPr>
            <a:picLocks noChangeAspect="1"/>
          </p:cNvPicPr>
          <p:nvPr/>
        </p:nvPicPr>
        <p:blipFill>
          <a:blip r:embed="rId5"/>
          <a:srcRect t="9109" b="9109"/>
          <a:stretch/>
        </p:blipFill>
        <p:spPr>
          <a:xfrm>
            <a:off x="457200" y="4130040"/>
            <a:ext cx="3268980" cy="1733550"/>
          </a:xfrm>
          <a:prstGeom prst="rect">
            <a:avLst/>
          </a:prstGeom>
        </p:spPr>
      </p:pic>
      <p:sp>
        <p:nvSpPr>
          <p:cNvPr id="15" name="Text 10"/>
          <p:cNvSpPr/>
          <p:nvPr/>
        </p:nvSpPr>
        <p:spPr>
          <a:xfrm>
            <a:off x="594360" y="5936742"/>
            <a:ext cx="2994660" cy="320040"/>
          </a:xfrm>
          <a:prstGeom prst="rect">
            <a:avLst/>
          </a:prstGeom>
          <a:noFill/>
          <a:ln/>
        </p:spPr>
        <p:txBody>
          <a:bodyPr wrap="square" lIns="0" tIns="0" rIns="0" bIns="0" rtlCol="0" anchor="t"/>
          <a:lstStyle/>
          <a:p>
            <a:pPr marL="0" indent="0" algn="ctr">
              <a:buNone/>
            </a:pPr>
            <a:r>
              <a:rPr lang="en-US" sz="1000" b="1">
                <a:solidFill>
                  <a:srgbClr val="2C3E50"/>
                </a:solidFill>
                <a:latin typeface="Georgia" panose="02040502050405020303" pitchFamily="18" charset="0"/>
                <a:ea typeface="Georgia" pitchFamily="34" charset="-122"/>
                <a:cs typeface="Georgia" pitchFamily="34" charset="-120"/>
              </a:rPr>
              <a:t>3575 Gordon Drive</a:t>
            </a:r>
            <a:endParaRPr lang="en-US" sz="1000"/>
          </a:p>
        </p:txBody>
      </p:sp>
      <p:sp>
        <p:nvSpPr>
          <p:cNvPr id="16" name="Text 11"/>
          <p:cNvSpPr/>
          <p:nvPr/>
        </p:nvSpPr>
        <p:spPr>
          <a:xfrm>
            <a:off x="594360" y="6156960"/>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Georgia" pitchFamily="34" charset="-122"/>
                <a:cs typeface="Georgia" pitchFamily="34" charset="-120"/>
              </a:rPr>
              <a:t>Sold | </a:t>
            </a:r>
            <a:r>
              <a:rPr lang="en-US" sz="1000" dirty="0">
                <a:solidFill>
                  <a:srgbClr val="36454F"/>
                </a:solidFill>
                <a:latin typeface="Aptos" panose="020B0004020202020204" pitchFamily="34" charset="0"/>
                <a:ea typeface="Georgia" pitchFamily="34" charset="-122"/>
                <a:cs typeface="Georgia" pitchFamily="34" charset="-120"/>
              </a:rPr>
              <a:t>$7,360,000 </a:t>
            </a:r>
            <a:r>
              <a:rPr lang="en-US" sz="1000" dirty="0">
                <a:solidFill>
                  <a:srgbClr val="36454F"/>
                </a:solidFill>
                <a:latin typeface="Georgia" panose="02040502050405020303" pitchFamily="18" charset="0"/>
                <a:ea typeface="Georgia" pitchFamily="34" charset="-122"/>
                <a:cs typeface="Georgia" pitchFamily="34" charset="-120"/>
              </a:rPr>
              <a:t>| </a:t>
            </a:r>
            <a:r>
              <a:rPr lang="en-US" sz="1000" dirty="0">
                <a:solidFill>
                  <a:srgbClr val="566573"/>
                </a:solidFill>
                <a:latin typeface="Georgia" panose="02040502050405020303" pitchFamily="18" charset="0"/>
                <a:ea typeface="Georgia" pitchFamily="34" charset="-122"/>
                <a:cs typeface="Georgia" pitchFamily="34" charset="-120"/>
              </a:rPr>
              <a:t>Represented Seller</a:t>
            </a:r>
            <a:endParaRPr lang="en-US" sz="900" dirty="0"/>
          </a:p>
        </p:txBody>
      </p:sp>
      <p:sp>
        <p:nvSpPr>
          <p:cNvPr id="17" name="Shape 12"/>
          <p:cNvSpPr/>
          <p:nvPr/>
        </p:nvSpPr>
        <p:spPr>
          <a:xfrm>
            <a:off x="4046220" y="4130040"/>
            <a:ext cx="3268980" cy="2667000"/>
          </a:xfrm>
          <a:prstGeom prst="rect">
            <a:avLst/>
          </a:prstGeom>
          <a:solidFill>
            <a:srgbClr val="FFFFFF"/>
          </a:solidFill>
          <a:ln/>
        </p:spPr>
        <p:txBody>
          <a:bodyPr/>
          <a:lstStyle/>
          <a:p>
            <a:endParaRPr lang="en-US"/>
          </a:p>
        </p:txBody>
      </p:sp>
      <p:pic>
        <p:nvPicPr>
          <p:cNvPr id="18" name="Image 3" descr="/agent/turn1/workspace/input/files/file_8f3f9ea6/images/22.jpeg"/>
          <p:cNvPicPr>
            <a:picLocks noChangeAspect="1"/>
          </p:cNvPicPr>
          <p:nvPr/>
        </p:nvPicPr>
        <p:blipFill>
          <a:blip r:embed="rId6"/>
          <a:srcRect t="7839" b="7839"/>
          <a:stretch/>
        </p:blipFill>
        <p:spPr>
          <a:xfrm>
            <a:off x="4046220" y="4130040"/>
            <a:ext cx="3268980" cy="1733550"/>
          </a:xfrm>
          <a:prstGeom prst="rect">
            <a:avLst/>
          </a:prstGeom>
        </p:spPr>
      </p:pic>
      <p:sp>
        <p:nvSpPr>
          <p:cNvPr id="19" name="Text 13"/>
          <p:cNvSpPr/>
          <p:nvPr/>
        </p:nvSpPr>
        <p:spPr>
          <a:xfrm>
            <a:off x="4183380" y="5936742"/>
            <a:ext cx="2994660" cy="320040"/>
          </a:xfrm>
          <a:prstGeom prst="rect">
            <a:avLst/>
          </a:prstGeom>
          <a:noFill/>
          <a:ln/>
        </p:spPr>
        <p:txBody>
          <a:bodyPr wrap="square" lIns="0" tIns="0" rIns="0" bIns="0" rtlCol="0" anchor="t"/>
          <a:lstStyle/>
          <a:p>
            <a:pPr marL="0" indent="0" algn="ctr">
              <a:buNone/>
            </a:pPr>
            <a:r>
              <a:rPr lang="en-US" sz="1000" b="1">
                <a:solidFill>
                  <a:srgbClr val="2C3E50"/>
                </a:solidFill>
                <a:latin typeface="Georgia" panose="02040502050405020303" pitchFamily="18" charset="0"/>
                <a:ea typeface="Georgia" pitchFamily="34" charset="-122"/>
                <a:cs typeface="Georgia" pitchFamily="34" charset="-120"/>
              </a:rPr>
              <a:t>78 Broad Ave South</a:t>
            </a:r>
            <a:endParaRPr lang="en-US" sz="1000"/>
          </a:p>
        </p:txBody>
      </p:sp>
      <p:sp>
        <p:nvSpPr>
          <p:cNvPr id="20" name="Text 14"/>
          <p:cNvSpPr/>
          <p:nvPr/>
        </p:nvSpPr>
        <p:spPr>
          <a:xfrm>
            <a:off x="4183380" y="6156960"/>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Georgia" pitchFamily="34" charset="-122"/>
                <a:cs typeface="Georgia" pitchFamily="34" charset="-120"/>
              </a:rPr>
              <a:t>Sold | </a:t>
            </a:r>
            <a:r>
              <a:rPr lang="en-US" sz="1000" dirty="0">
                <a:solidFill>
                  <a:srgbClr val="36454F"/>
                </a:solidFill>
                <a:latin typeface="Aptos" panose="020B0004020202020204" pitchFamily="34" charset="0"/>
                <a:ea typeface="Georgia" pitchFamily="34" charset="-122"/>
                <a:cs typeface="Georgia" pitchFamily="34" charset="-120"/>
              </a:rPr>
              <a:t>$6,450,000 </a:t>
            </a:r>
            <a:r>
              <a:rPr lang="en-US" sz="1000" dirty="0">
                <a:solidFill>
                  <a:srgbClr val="36454F"/>
                </a:solidFill>
                <a:latin typeface="Georgia" panose="02040502050405020303" pitchFamily="18" charset="0"/>
                <a:ea typeface="Georgia" pitchFamily="34" charset="-122"/>
                <a:cs typeface="Georgia" pitchFamily="34" charset="-120"/>
              </a:rPr>
              <a:t>| </a:t>
            </a:r>
            <a:r>
              <a:rPr lang="en-US" sz="1000" dirty="0">
                <a:solidFill>
                  <a:srgbClr val="566573"/>
                </a:solidFill>
                <a:latin typeface="Georgia" panose="02040502050405020303" pitchFamily="18" charset="0"/>
                <a:ea typeface="Georgia" pitchFamily="34" charset="-122"/>
                <a:cs typeface="Georgia" pitchFamily="34" charset="-120"/>
              </a:rPr>
              <a:t>Represented Buyer</a:t>
            </a:r>
            <a:endParaRPr lang="en-US" sz="900" dirty="0"/>
          </a:p>
        </p:txBody>
      </p:sp>
      <p:sp>
        <p:nvSpPr>
          <p:cNvPr id="21" name="Shape 15"/>
          <p:cNvSpPr/>
          <p:nvPr/>
        </p:nvSpPr>
        <p:spPr>
          <a:xfrm>
            <a:off x="457200" y="7025640"/>
            <a:ext cx="3268980" cy="2667000"/>
          </a:xfrm>
          <a:prstGeom prst="rect">
            <a:avLst/>
          </a:prstGeom>
          <a:solidFill>
            <a:srgbClr val="FFFFFF"/>
          </a:solidFill>
          <a:ln/>
        </p:spPr>
        <p:txBody>
          <a:bodyPr/>
          <a:lstStyle/>
          <a:p>
            <a:endParaRPr lang="en-US"/>
          </a:p>
        </p:txBody>
      </p:sp>
      <p:pic>
        <p:nvPicPr>
          <p:cNvPr id="22" name="Image 4" descr="/agent/turn1/workspace/input/files/file_8f3f9ea6/images/23.jpeg"/>
          <p:cNvPicPr>
            <a:picLocks noChangeAspect="1"/>
          </p:cNvPicPr>
          <p:nvPr/>
        </p:nvPicPr>
        <p:blipFill>
          <a:blip r:embed="rId7"/>
          <a:srcRect t="11433" b="11433"/>
          <a:stretch/>
        </p:blipFill>
        <p:spPr>
          <a:xfrm>
            <a:off x="457200" y="7025640"/>
            <a:ext cx="3268980" cy="1733550"/>
          </a:xfrm>
          <a:prstGeom prst="rect">
            <a:avLst/>
          </a:prstGeom>
        </p:spPr>
      </p:pic>
      <p:sp>
        <p:nvSpPr>
          <p:cNvPr id="23" name="Text 16"/>
          <p:cNvSpPr/>
          <p:nvPr/>
        </p:nvSpPr>
        <p:spPr>
          <a:xfrm>
            <a:off x="594360" y="8832342"/>
            <a:ext cx="2994660" cy="320040"/>
          </a:xfrm>
          <a:prstGeom prst="rect">
            <a:avLst/>
          </a:prstGeom>
          <a:noFill/>
          <a:ln/>
        </p:spPr>
        <p:txBody>
          <a:bodyPr wrap="square" lIns="0" tIns="0" rIns="0" bIns="0" rtlCol="0" anchor="t"/>
          <a:lstStyle/>
          <a:p>
            <a:pPr marL="0" indent="0" algn="ctr">
              <a:buNone/>
            </a:pPr>
            <a:r>
              <a:rPr lang="en-US" sz="1000" b="1">
                <a:solidFill>
                  <a:srgbClr val="2C3E50"/>
                </a:solidFill>
                <a:latin typeface="Georgia" panose="02040502050405020303" pitchFamily="18" charset="0"/>
                <a:ea typeface="Georgia" pitchFamily="34" charset="-122"/>
                <a:cs typeface="Georgia" pitchFamily="34" charset="-120"/>
              </a:rPr>
              <a:t>382 Gulf Shore Boulevard North</a:t>
            </a:r>
            <a:endParaRPr lang="en-US" sz="1000"/>
          </a:p>
        </p:txBody>
      </p:sp>
      <p:sp>
        <p:nvSpPr>
          <p:cNvPr id="24" name="Text 17"/>
          <p:cNvSpPr/>
          <p:nvPr/>
        </p:nvSpPr>
        <p:spPr>
          <a:xfrm>
            <a:off x="594360" y="9052560"/>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Georgia" pitchFamily="34" charset="-122"/>
                <a:cs typeface="Georgia" pitchFamily="34" charset="-120"/>
              </a:rPr>
              <a:t>Sold | </a:t>
            </a:r>
            <a:r>
              <a:rPr lang="en-US" sz="1000" dirty="0">
                <a:solidFill>
                  <a:srgbClr val="36454F"/>
                </a:solidFill>
                <a:latin typeface="Aptos" panose="020B0004020202020204" pitchFamily="34" charset="0"/>
                <a:ea typeface="Georgia" pitchFamily="34" charset="-122"/>
                <a:cs typeface="Georgia" pitchFamily="34" charset="-120"/>
              </a:rPr>
              <a:t>$6,200,000 </a:t>
            </a:r>
            <a:r>
              <a:rPr lang="en-US" sz="1000" dirty="0">
                <a:solidFill>
                  <a:srgbClr val="36454F"/>
                </a:solidFill>
                <a:latin typeface="Georgia" panose="02040502050405020303" pitchFamily="18" charset="0"/>
                <a:ea typeface="Georgia" pitchFamily="34" charset="-122"/>
                <a:cs typeface="Georgia" pitchFamily="34" charset="-120"/>
              </a:rPr>
              <a:t>| </a:t>
            </a:r>
            <a:r>
              <a:rPr lang="en-US" sz="1000" dirty="0">
                <a:solidFill>
                  <a:srgbClr val="566573"/>
                </a:solidFill>
                <a:latin typeface="Georgia" panose="02040502050405020303" pitchFamily="18" charset="0"/>
                <a:ea typeface="Georgia" pitchFamily="34" charset="-122"/>
                <a:cs typeface="Georgia" pitchFamily="34" charset="-120"/>
              </a:rPr>
              <a:t>Represented Buyer</a:t>
            </a:r>
            <a:endParaRPr lang="en-US" sz="900" dirty="0"/>
          </a:p>
        </p:txBody>
      </p:sp>
      <p:sp>
        <p:nvSpPr>
          <p:cNvPr id="25" name="Shape 18"/>
          <p:cNvSpPr/>
          <p:nvPr/>
        </p:nvSpPr>
        <p:spPr>
          <a:xfrm>
            <a:off x="4046220" y="7025640"/>
            <a:ext cx="3268980" cy="2667000"/>
          </a:xfrm>
          <a:prstGeom prst="rect">
            <a:avLst/>
          </a:prstGeom>
          <a:solidFill>
            <a:srgbClr val="FFFFFF"/>
          </a:solidFill>
          <a:ln/>
        </p:spPr>
        <p:txBody>
          <a:bodyPr/>
          <a:lstStyle/>
          <a:p>
            <a:endParaRPr lang="en-US"/>
          </a:p>
        </p:txBody>
      </p:sp>
      <p:pic>
        <p:nvPicPr>
          <p:cNvPr id="26" name="Image 5" descr="/agent/turn1/workspace/input/files/file_8f3f9ea6/images/24.jpeg"/>
          <p:cNvPicPr>
            <a:picLocks noChangeAspect="1"/>
          </p:cNvPicPr>
          <p:nvPr/>
        </p:nvPicPr>
        <p:blipFill>
          <a:blip r:embed="rId8"/>
          <a:srcRect t="13408" b="13408"/>
          <a:stretch/>
        </p:blipFill>
        <p:spPr>
          <a:xfrm>
            <a:off x="4046220" y="7025640"/>
            <a:ext cx="3268980" cy="1733550"/>
          </a:xfrm>
          <a:prstGeom prst="rect">
            <a:avLst/>
          </a:prstGeom>
        </p:spPr>
      </p:pic>
      <p:sp>
        <p:nvSpPr>
          <p:cNvPr id="27" name="Text 19"/>
          <p:cNvSpPr/>
          <p:nvPr/>
        </p:nvSpPr>
        <p:spPr>
          <a:xfrm>
            <a:off x="4183380" y="8832342"/>
            <a:ext cx="2994660" cy="320040"/>
          </a:xfrm>
          <a:prstGeom prst="rect">
            <a:avLst/>
          </a:prstGeom>
          <a:noFill/>
          <a:ln/>
        </p:spPr>
        <p:txBody>
          <a:bodyPr wrap="square" lIns="0" tIns="0" rIns="0" bIns="0" rtlCol="0" anchor="t"/>
          <a:lstStyle/>
          <a:p>
            <a:pPr marL="0" indent="0" algn="ctr">
              <a:buNone/>
            </a:pPr>
            <a:r>
              <a:rPr lang="en-US" sz="1000" b="1">
                <a:solidFill>
                  <a:srgbClr val="2C3E50"/>
                </a:solidFill>
                <a:latin typeface="Georgia" panose="02040502050405020303" pitchFamily="18" charset="0"/>
                <a:ea typeface="Georgia" pitchFamily="34" charset="-122"/>
                <a:cs typeface="Georgia" pitchFamily="34" charset="-120"/>
              </a:rPr>
              <a:t>6597 Nicholas Boulevard #704</a:t>
            </a:r>
            <a:endParaRPr lang="en-US" sz="1000"/>
          </a:p>
        </p:txBody>
      </p:sp>
      <p:sp>
        <p:nvSpPr>
          <p:cNvPr id="28" name="Text 20"/>
          <p:cNvSpPr/>
          <p:nvPr/>
        </p:nvSpPr>
        <p:spPr>
          <a:xfrm>
            <a:off x="4183380" y="9052560"/>
            <a:ext cx="2994660" cy="502920"/>
          </a:xfrm>
          <a:prstGeom prst="rect">
            <a:avLst/>
          </a:prstGeom>
          <a:noFill/>
          <a:ln/>
        </p:spPr>
        <p:txBody>
          <a:bodyPr wrap="square" lIns="0" tIns="0" rIns="0" bIns="0" rtlCol="0" anchor="t"/>
          <a:lstStyle/>
          <a:p>
            <a:pPr marL="0" indent="0" algn="ctr">
              <a:buNone/>
            </a:pPr>
            <a:r>
              <a:rPr lang="en-US" sz="1000" dirty="0">
                <a:solidFill>
                  <a:srgbClr val="36454F"/>
                </a:solidFill>
                <a:latin typeface="Georgia" panose="02040502050405020303" pitchFamily="18" charset="0"/>
                <a:ea typeface="Georgia" pitchFamily="34" charset="-122"/>
                <a:cs typeface="Georgia" pitchFamily="34" charset="-120"/>
              </a:rPr>
              <a:t>Sold | </a:t>
            </a:r>
            <a:r>
              <a:rPr lang="en-US" sz="1000" dirty="0">
                <a:solidFill>
                  <a:srgbClr val="36454F"/>
                </a:solidFill>
                <a:latin typeface="Aptos" panose="020B0004020202020204" pitchFamily="34" charset="0"/>
                <a:ea typeface="Georgia" pitchFamily="34" charset="-122"/>
                <a:cs typeface="Georgia" pitchFamily="34" charset="-120"/>
              </a:rPr>
              <a:t>$5,050,000 </a:t>
            </a:r>
            <a:r>
              <a:rPr lang="en-US" sz="1000" dirty="0">
                <a:solidFill>
                  <a:srgbClr val="36454F"/>
                </a:solidFill>
                <a:latin typeface="Georgia" panose="02040502050405020303" pitchFamily="18" charset="0"/>
                <a:ea typeface="Georgia" pitchFamily="34" charset="-122"/>
                <a:cs typeface="Georgia" pitchFamily="34" charset="-120"/>
              </a:rPr>
              <a:t>| </a:t>
            </a:r>
            <a:r>
              <a:rPr lang="en-US" sz="1000" dirty="0">
                <a:solidFill>
                  <a:srgbClr val="566573"/>
                </a:solidFill>
                <a:latin typeface="Georgia" panose="02040502050405020303" pitchFamily="18" charset="0"/>
                <a:ea typeface="Georgia" pitchFamily="34" charset="-122"/>
                <a:cs typeface="Georgia" pitchFamily="34" charset="-120"/>
              </a:rPr>
              <a:t>Represented Seller</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85800" y="914400"/>
            <a:ext cx="320040" cy="320040"/>
          </a:xfrm>
          <a:prstGeom prst="rect">
            <a:avLst/>
          </a:prstGeom>
          <a:noFill/>
          <a:ln/>
        </p:spPr>
        <p:txBody>
          <a:bodyPr wrap="square" lIns="0" tIns="0" rIns="0" bIns="0" rtlCol="0" anchor="ctr"/>
          <a:lstStyle/>
          <a:p>
            <a:pPr marL="0" indent="0">
              <a:buNone/>
            </a:pPr>
            <a:r>
              <a:rPr lang="en-US" sz="2400" b="1">
                <a:solidFill>
                  <a:srgbClr val="888888"/>
                </a:solidFill>
                <a:latin typeface="Georgia" pitchFamily="34" charset="0"/>
                <a:ea typeface="Georgia" pitchFamily="34" charset="-122"/>
                <a:cs typeface="Georgia" pitchFamily="34" charset="-120"/>
              </a:rPr>
              <a:t>“</a:t>
            </a:r>
            <a:endParaRPr lang="en-US" sz="2400"/>
          </a:p>
        </p:txBody>
      </p:sp>
      <p:sp>
        <p:nvSpPr>
          <p:cNvPr id="4" name="Text 2"/>
          <p:cNvSpPr/>
          <p:nvPr/>
        </p:nvSpPr>
        <p:spPr>
          <a:xfrm>
            <a:off x="1005840" y="937260"/>
            <a:ext cx="6080760" cy="502920"/>
          </a:xfrm>
          <a:prstGeom prst="rect">
            <a:avLst/>
          </a:prstGeom>
          <a:noFill/>
          <a:ln/>
        </p:spPr>
        <p:txBody>
          <a:bodyPr wrap="square" lIns="0" tIns="0" rIns="0" bIns="0" rtlCol="0" anchor="t"/>
          <a:lstStyle/>
          <a:p>
            <a:pPr marL="0" indent="0" algn="l">
              <a:lnSpc>
                <a:spcPct val="130000"/>
              </a:lnSpc>
              <a:buNone/>
            </a:pPr>
            <a:r>
              <a:rPr lang="en-US" sz="1200" i="1" dirty="0">
                <a:solidFill>
                  <a:srgbClr val="3A3A3A"/>
                </a:solidFill>
                <a:latin typeface="Calibri" pitchFamily="34" charset="0"/>
                <a:ea typeface="Calibri" pitchFamily="34" charset="-122"/>
                <a:cs typeface="Calibri" pitchFamily="34" charset="-120"/>
              </a:rPr>
              <a:t>Pete was incredibly professional and went out of his way to assist me. He is by far the most professional and knowledgeable representative I have ever worked with.</a:t>
            </a:r>
            <a:endParaRPr lang="en-US" sz="1200" dirty="0"/>
          </a:p>
        </p:txBody>
      </p:sp>
      <p:sp>
        <p:nvSpPr>
          <p:cNvPr id="5" name="Text 3"/>
          <p:cNvSpPr/>
          <p:nvPr/>
        </p:nvSpPr>
        <p:spPr>
          <a:xfrm>
            <a:off x="1005840" y="1463040"/>
            <a:ext cx="6080760" cy="182880"/>
          </a:xfrm>
          <a:prstGeom prst="rect">
            <a:avLst/>
          </a:prstGeom>
          <a:noFill/>
          <a:ln/>
        </p:spPr>
        <p:txBody>
          <a:bodyPr wrap="square" lIns="0" tIns="0" rIns="0" bIns="0" rtlCol="0" anchor="t"/>
          <a:lstStyle/>
          <a:p>
            <a:pPr marL="0" indent="0" algn="l">
              <a:buNone/>
            </a:pPr>
            <a:r>
              <a:rPr lang="en-US" sz="1100" b="1" dirty="0">
                <a:solidFill>
                  <a:srgbClr val="1E1E1E"/>
                </a:solidFill>
                <a:latin typeface="Calibri" pitchFamily="34" charset="0"/>
                <a:ea typeface="Calibri" pitchFamily="34" charset="-122"/>
                <a:cs typeface="Calibri" pitchFamily="34" charset="-120"/>
              </a:rPr>
              <a:t>—  Greg N.</a:t>
            </a:r>
            <a:endParaRPr lang="en-US" sz="1100" dirty="0"/>
          </a:p>
        </p:txBody>
      </p:sp>
      <p:sp>
        <p:nvSpPr>
          <p:cNvPr id="6" name="Shape 4"/>
          <p:cNvSpPr/>
          <p:nvPr/>
        </p:nvSpPr>
        <p:spPr>
          <a:xfrm>
            <a:off x="1005840" y="1781251"/>
            <a:ext cx="5486400" cy="3658"/>
          </a:xfrm>
          <a:prstGeom prst="rect">
            <a:avLst/>
          </a:prstGeom>
          <a:solidFill>
            <a:srgbClr val="CCCCCC"/>
          </a:solidFill>
          <a:ln/>
        </p:spPr>
        <p:txBody>
          <a:bodyPr/>
          <a:lstStyle/>
          <a:p>
            <a:endParaRPr lang="en-US"/>
          </a:p>
        </p:txBody>
      </p:sp>
      <p:sp>
        <p:nvSpPr>
          <p:cNvPr id="15" name="Text 1">
            <a:extLst>
              <a:ext uri="{FF2B5EF4-FFF2-40B4-BE49-F238E27FC236}">
                <a16:creationId xmlns:a16="http://schemas.microsoft.com/office/drawing/2014/main" id="{55B128FC-51A8-645A-C8AF-4E6813FCD75A}"/>
              </a:ext>
            </a:extLst>
          </p:cNvPr>
          <p:cNvSpPr/>
          <p:nvPr/>
        </p:nvSpPr>
        <p:spPr>
          <a:xfrm>
            <a:off x="685800" y="274320"/>
            <a:ext cx="6400800" cy="457200"/>
          </a:xfrm>
          <a:prstGeom prst="rect">
            <a:avLst/>
          </a:prstGeom>
          <a:noFill/>
          <a:ln/>
        </p:spPr>
        <p:txBody>
          <a:bodyPr wrap="square" lIns="0" tIns="0" rIns="0" bIns="0" rtlCol="0" anchor="ctr"/>
          <a:lstStyle/>
          <a:p>
            <a:pPr marL="0" indent="0" algn="ctr">
              <a:buNone/>
            </a:pPr>
            <a:r>
              <a:rPr lang="en-US" sz="2000" i="1" dirty="0">
                <a:solidFill>
                  <a:schemeClr val="tx2">
                    <a:lumMod val="75000"/>
                  </a:schemeClr>
                </a:solidFill>
                <a:latin typeface="Calibri" pitchFamily="34" charset="0"/>
                <a:ea typeface="Calibri" pitchFamily="34" charset="-122"/>
                <a:cs typeface="Calibri" pitchFamily="34" charset="-120"/>
              </a:rPr>
              <a:t>What Our Clients Say</a:t>
            </a:r>
            <a:endParaRPr lang="en-US" sz="2000" dirty="0">
              <a:solidFill>
                <a:schemeClr val="tx2">
                  <a:lumMod val="75000"/>
                </a:schemeClr>
              </a:solidFill>
            </a:endParaRPr>
          </a:p>
        </p:txBody>
      </p:sp>
      <p:sp>
        <p:nvSpPr>
          <p:cNvPr id="16" name="Text 1">
            <a:extLst>
              <a:ext uri="{FF2B5EF4-FFF2-40B4-BE49-F238E27FC236}">
                <a16:creationId xmlns:a16="http://schemas.microsoft.com/office/drawing/2014/main" id="{606E5C9E-B5B2-C47A-EF73-A99CF912E4BB}"/>
              </a:ext>
            </a:extLst>
          </p:cNvPr>
          <p:cNvSpPr/>
          <p:nvPr/>
        </p:nvSpPr>
        <p:spPr>
          <a:xfrm>
            <a:off x="685800" y="4937760"/>
            <a:ext cx="320040" cy="320040"/>
          </a:xfrm>
          <a:prstGeom prst="rect">
            <a:avLst/>
          </a:prstGeom>
          <a:noFill/>
          <a:ln/>
        </p:spPr>
        <p:txBody>
          <a:bodyPr wrap="square" lIns="0" tIns="0" rIns="0" bIns="0" rtlCol="0" anchor="ctr"/>
          <a:lstStyle/>
          <a:p>
            <a:pPr marL="0" indent="0">
              <a:buNone/>
            </a:pPr>
            <a:r>
              <a:rPr lang="en-US" sz="2400" b="1">
                <a:solidFill>
                  <a:srgbClr val="888888"/>
                </a:solidFill>
                <a:latin typeface="Georgia" pitchFamily="34" charset="0"/>
                <a:ea typeface="Georgia" pitchFamily="34" charset="-122"/>
                <a:cs typeface="Georgia" pitchFamily="34" charset="-120"/>
              </a:rPr>
              <a:t>“</a:t>
            </a:r>
            <a:endParaRPr lang="en-US" sz="2400"/>
          </a:p>
        </p:txBody>
      </p:sp>
      <p:sp>
        <p:nvSpPr>
          <p:cNvPr id="17" name="Text 2">
            <a:extLst>
              <a:ext uri="{FF2B5EF4-FFF2-40B4-BE49-F238E27FC236}">
                <a16:creationId xmlns:a16="http://schemas.microsoft.com/office/drawing/2014/main" id="{AD27101B-4CCD-5488-8E85-1F3B3B21B41E}"/>
              </a:ext>
            </a:extLst>
          </p:cNvPr>
          <p:cNvSpPr/>
          <p:nvPr/>
        </p:nvSpPr>
        <p:spPr>
          <a:xfrm>
            <a:off x="1005840" y="4960620"/>
            <a:ext cx="6080760" cy="502920"/>
          </a:xfrm>
          <a:prstGeom prst="rect">
            <a:avLst/>
          </a:prstGeom>
          <a:noFill/>
          <a:ln/>
        </p:spPr>
        <p:txBody>
          <a:bodyPr wrap="square" lIns="0" tIns="0" rIns="0" bIns="0" rtlCol="0" anchor="t"/>
          <a:lstStyle/>
          <a:p>
            <a:pPr marL="0" indent="0" algn="l">
              <a:lnSpc>
                <a:spcPct val="130000"/>
              </a:lnSpc>
              <a:buNone/>
            </a:pPr>
            <a:r>
              <a:rPr lang="en-US" sz="1200" i="1" dirty="0">
                <a:solidFill>
                  <a:srgbClr val="3A3A3A"/>
                </a:solidFill>
                <a:latin typeface="Calibri" pitchFamily="34" charset="0"/>
                <a:ea typeface="Calibri" pitchFamily="34" charset="-122"/>
                <a:cs typeface="Calibri" pitchFamily="34" charset="-120"/>
              </a:rPr>
              <a:t>Our entire family has utilized Peter in the buying and selling of Port Royal real estate throughout the years. I would be happy to refer Pete to any one of my friends or colleagues.</a:t>
            </a:r>
            <a:endParaRPr lang="en-US" sz="1200" dirty="0"/>
          </a:p>
        </p:txBody>
      </p:sp>
      <p:sp>
        <p:nvSpPr>
          <p:cNvPr id="18" name="Text 3">
            <a:extLst>
              <a:ext uri="{FF2B5EF4-FFF2-40B4-BE49-F238E27FC236}">
                <a16:creationId xmlns:a16="http://schemas.microsoft.com/office/drawing/2014/main" id="{B076CE15-620E-C631-FF52-2968544AF5A8}"/>
              </a:ext>
            </a:extLst>
          </p:cNvPr>
          <p:cNvSpPr/>
          <p:nvPr/>
        </p:nvSpPr>
        <p:spPr>
          <a:xfrm>
            <a:off x="1005840" y="5486400"/>
            <a:ext cx="6080760" cy="182880"/>
          </a:xfrm>
          <a:prstGeom prst="rect">
            <a:avLst/>
          </a:prstGeom>
          <a:noFill/>
          <a:ln/>
        </p:spPr>
        <p:txBody>
          <a:bodyPr wrap="square" lIns="0" tIns="0" rIns="0" bIns="0" rtlCol="0" anchor="t"/>
          <a:lstStyle/>
          <a:p>
            <a:pPr marL="0" indent="0" algn="l">
              <a:buNone/>
            </a:pPr>
            <a:r>
              <a:rPr lang="en-US" sz="1100" b="1" dirty="0">
                <a:solidFill>
                  <a:srgbClr val="1E1E1E"/>
                </a:solidFill>
                <a:latin typeface="Calibri" pitchFamily="34" charset="0"/>
                <a:ea typeface="Calibri" pitchFamily="34" charset="-122"/>
                <a:cs typeface="Calibri" pitchFamily="34" charset="-120"/>
              </a:rPr>
              <a:t>—  Chip H.</a:t>
            </a:r>
            <a:endParaRPr lang="en-US" sz="1100" dirty="0"/>
          </a:p>
        </p:txBody>
      </p:sp>
      <p:sp>
        <p:nvSpPr>
          <p:cNvPr id="19" name="Shape 4">
            <a:extLst>
              <a:ext uri="{FF2B5EF4-FFF2-40B4-BE49-F238E27FC236}">
                <a16:creationId xmlns:a16="http://schemas.microsoft.com/office/drawing/2014/main" id="{0A8C9BB2-6347-E819-A96E-13C242405B90}"/>
              </a:ext>
            </a:extLst>
          </p:cNvPr>
          <p:cNvSpPr/>
          <p:nvPr/>
        </p:nvSpPr>
        <p:spPr>
          <a:xfrm>
            <a:off x="1005840" y="5804611"/>
            <a:ext cx="5486400" cy="3658"/>
          </a:xfrm>
          <a:prstGeom prst="rect">
            <a:avLst/>
          </a:prstGeom>
          <a:solidFill>
            <a:srgbClr val="CCCCCC"/>
          </a:solidFill>
          <a:ln/>
        </p:spPr>
        <p:txBody>
          <a:bodyPr/>
          <a:lstStyle/>
          <a:p>
            <a:endParaRPr lang="en-US"/>
          </a:p>
        </p:txBody>
      </p:sp>
      <p:sp>
        <p:nvSpPr>
          <p:cNvPr id="20" name="Text 5">
            <a:extLst>
              <a:ext uri="{FF2B5EF4-FFF2-40B4-BE49-F238E27FC236}">
                <a16:creationId xmlns:a16="http://schemas.microsoft.com/office/drawing/2014/main" id="{1D60E3A3-7231-87A9-3C6A-B4DF4CD0D18A}"/>
              </a:ext>
            </a:extLst>
          </p:cNvPr>
          <p:cNvSpPr/>
          <p:nvPr/>
        </p:nvSpPr>
        <p:spPr>
          <a:xfrm>
            <a:off x="685800" y="2926080"/>
            <a:ext cx="320040" cy="320040"/>
          </a:xfrm>
          <a:prstGeom prst="rect">
            <a:avLst/>
          </a:prstGeom>
          <a:noFill/>
          <a:ln/>
        </p:spPr>
        <p:txBody>
          <a:bodyPr wrap="square" lIns="0" tIns="0" rIns="0" bIns="0" rtlCol="0" anchor="ctr"/>
          <a:lstStyle/>
          <a:p>
            <a:pPr marL="0" indent="0">
              <a:buNone/>
            </a:pPr>
            <a:r>
              <a:rPr lang="en-US" sz="2400" b="1">
                <a:solidFill>
                  <a:srgbClr val="888888"/>
                </a:solidFill>
                <a:latin typeface="Georgia" pitchFamily="34" charset="0"/>
                <a:ea typeface="Georgia" pitchFamily="34" charset="-122"/>
                <a:cs typeface="Georgia" pitchFamily="34" charset="-120"/>
              </a:rPr>
              <a:t>“</a:t>
            </a:r>
            <a:endParaRPr lang="en-US" sz="2400"/>
          </a:p>
        </p:txBody>
      </p:sp>
      <p:sp>
        <p:nvSpPr>
          <p:cNvPr id="21" name="Text 6">
            <a:extLst>
              <a:ext uri="{FF2B5EF4-FFF2-40B4-BE49-F238E27FC236}">
                <a16:creationId xmlns:a16="http://schemas.microsoft.com/office/drawing/2014/main" id="{1A399B51-06D7-4066-52F0-CBB11B452BFC}"/>
              </a:ext>
            </a:extLst>
          </p:cNvPr>
          <p:cNvSpPr/>
          <p:nvPr/>
        </p:nvSpPr>
        <p:spPr>
          <a:xfrm>
            <a:off x="1005840" y="2948940"/>
            <a:ext cx="6080760" cy="502920"/>
          </a:xfrm>
          <a:prstGeom prst="rect">
            <a:avLst/>
          </a:prstGeom>
          <a:noFill/>
          <a:ln/>
        </p:spPr>
        <p:txBody>
          <a:bodyPr wrap="square" lIns="0" tIns="0" rIns="0" bIns="0" rtlCol="0" anchor="t"/>
          <a:lstStyle/>
          <a:p>
            <a:pPr marL="0" indent="0" algn="l">
              <a:lnSpc>
                <a:spcPct val="130000"/>
              </a:lnSpc>
              <a:buNone/>
            </a:pPr>
            <a:r>
              <a:rPr lang="en-US" sz="1200" i="1" dirty="0">
                <a:solidFill>
                  <a:srgbClr val="3A3A3A"/>
                </a:solidFill>
                <a:latin typeface="Calibri" pitchFamily="34" charset="0"/>
                <a:ea typeface="Calibri" pitchFamily="34" charset="-122"/>
                <a:cs typeface="Calibri" pitchFamily="34" charset="-120"/>
              </a:rPr>
              <a:t>During the past 18 years, Peter has helped us on 6 different occasions. He is the most trustworthy and loyal representative we know. He has earned our trust and our friendship.</a:t>
            </a:r>
            <a:endParaRPr lang="en-US" sz="1200" dirty="0"/>
          </a:p>
        </p:txBody>
      </p:sp>
      <p:sp>
        <p:nvSpPr>
          <p:cNvPr id="22" name="Text 7">
            <a:extLst>
              <a:ext uri="{FF2B5EF4-FFF2-40B4-BE49-F238E27FC236}">
                <a16:creationId xmlns:a16="http://schemas.microsoft.com/office/drawing/2014/main" id="{96421559-553A-3749-5DB2-0BD84652EE30}"/>
              </a:ext>
            </a:extLst>
          </p:cNvPr>
          <p:cNvSpPr/>
          <p:nvPr/>
        </p:nvSpPr>
        <p:spPr>
          <a:xfrm>
            <a:off x="1005840" y="3474720"/>
            <a:ext cx="6080760" cy="182880"/>
          </a:xfrm>
          <a:prstGeom prst="rect">
            <a:avLst/>
          </a:prstGeom>
          <a:noFill/>
          <a:ln/>
        </p:spPr>
        <p:txBody>
          <a:bodyPr wrap="square" lIns="0" tIns="0" rIns="0" bIns="0" rtlCol="0" anchor="t"/>
          <a:lstStyle/>
          <a:p>
            <a:pPr marL="0" indent="0" algn="l">
              <a:buNone/>
            </a:pPr>
            <a:r>
              <a:rPr lang="en-US" sz="1100" b="1" dirty="0">
                <a:solidFill>
                  <a:srgbClr val="1E1E1E"/>
                </a:solidFill>
                <a:latin typeface="Calibri" pitchFamily="34" charset="0"/>
                <a:ea typeface="Calibri" pitchFamily="34" charset="-122"/>
                <a:cs typeface="Calibri" pitchFamily="34" charset="-120"/>
              </a:rPr>
              <a:t>—  Mary S. &amp; Durand P.</a:t>
            </a:r>
            <a:endParaRPr lang="en-US" sz="1100" dirty="0"/>
          </a:p>
        </p:txBody>
      </p:sp>
      <p:sp>
        <p:nvSpPr>
          <p:cNvPr id="23" name="Shape 8">
            <a:extLst>
              <a:ext uri="{FF2B5EF4-FFF2-40B4-BE49-F238E27FC236}">
                <a16:creationId xmlns:a16="http://schemas.microsoft.com/office/drawing/2014/main" id="{8E52121F-5ACD-D0B9-E08A-193FDA1E6BF9}"/>
              </a:ext>
            </a:extLst>
          </p:cNvPr>
          <p:cNvSpPr/>
          <p:nvPr/>
        </p:nvSpPr>
        <p:spPr>
          <a:xfrm>
            <a:off x="1005840" y="3792931"/>
            <a:ext cx="5486400" cy="3658"/>
          </a:xfrm>
          <a:prstGeom prst="rect">
            <a:avLst/>
          </a:prstGeom>
          <a:solidFill>
            <a:srgbClr val="CCCCCC"/>
          </a:solidFill>
          <a:ln/>
        </p:spPr>
        <p:txBody>
          <a:bodyPr/>
          <a:lstStyle/>
          <a:p>
            <a:endParaRPr lang="en-US"/>
          </a:p>
        </p:txBody>
      </p:sp>
      <p:sp>
        <p:nvSpPr>
          <p:cNvPr id="24" name="Text 1">
            <a:extLst>
              <a:ext uri="{FF2B5EF4-FFF2-40B4-BE49-F238E27FC236}">
                <a16:creationId xmlns:a16="http://schemas.microsoft.com/office/drawing/2014/main" id="{A833159C-2166-18C0-C64D-30B7081D7C21}"/>
              </a:ext>
            </a:extLst>
          </p:cNvPr>
          <p:cNvSpPr/>
          <p:nvPr/>
        </p:nvSpPr>
        <p:spPr>
          <a:xfrm>
            <a:off x="685800" y="1920240"/>
            <a:ext cx="320040" cy="320040"/>
          </a:xfrm>
          <a:prstGeom prst="rect">
            <a:avLst/>
          </a:prstGeom>
          <a:noFill/>
          <a:ln/>
        </p:spPr>
        <p:txBody>
          <a:bodyPr wrap="square" lIns="0" tIns="0" rIns="0" bIns="0" rtlCol="0" anchor="ctr"/>
          <a:lstStyle/>
          <a:p>
            <a:pPr marL="0" indent="0">
              <a:buNone/>
            </a:pPr>
            <a:r>
              <a:rPr lang="en-US" sz="2400" b="1">
                <a:solidFill>
                  <a:srgbClr val="888888"/>
                </a:solidFill>
                <a:latin typeface="Georgia" pitchFamily="34" charset="0"/>
                <a:ea typeface="Georgia" pitchFamily="34" charset="-122"/>
                <a:cs typeface="Georgia" pitchFamily="34" charset="-120"/>
              </a:rPr>
              <a:t>“</a:t>
            </a:r>
            <a:endParaRPr lang="en-US" sz="2400"/>
          </a:p>
        </p:txBody>
      </p:sp>
      <p:sp>
        <p:nvSpPr>
          <p:cNvPr id="25" name="Text 2">
            <a:extLst>
              <a:ext uri="{FF2B5EF4-FFF2-40B4-BE49-F238E27FC236}">
                <a16:creationId xmlns:a16="http://schemas.microsoft.com/office/drawing/2014/main" id="{946F32BC-19AB-BCE1-9693-068A3B426AB6}"/>
              </a:ext>
            </a:extLst>
          </p:cNvPr>
          <p:cNvSpPr/>
          <p:nvPr/>
        </p:nvSpPr>
        <p:spPr>
          <a:xfrm>
            <a:off x="1005840" y="1943100"/>
            <a:ext cx="6080760" cy="502920"/>
          </a:xfrm>
          <a:prstGeom prst="rect">
            <a:avLst/>
          </a:prstGeom>
          <a:noFill/>
          <a:ln/>
        </p:spPr>
        <p:txBody>
          <a:bodyPr wrap="square" lIns="0" tIns="0" rIns="0" bIns="0" rtlCol="0" anchor="t"/>
          <a:lstStyle/>
          <a:p>
            <a:pPr marL="0" indent="0" algn="l">
              <a:lnSpc>
                <a:spcPct val="130000"/>
              </a:lnSpc>
              <a:buNone/>
            </a:pPr>
            <a:r>
              <a:rPr lang="en-US" sz="1200" i="1" dirty="0">
                <a:solidFill>
                  <a:srgbClr val="3A3A3A"/>
                </a:solidFill>
                <a:latin typeface="Calibri" pitchFamily="34" charset="0"/>
                <a:ea typeface="Calibri" pitchFamily="34" charset="-122"/>
                <a:cs typeface="Calibri" pitchFamily="34" charset="-120"/>
              </a:rPr>
              <a:t>Paul is the person you want in your corner — whether buying or selling. We always found him to be trustworthy, knowledgeable and responsive.</a:t>
            </a:r>
            <a:endParaRPr lang="en-US" sz="1200" dirty="0"/>
          </a:p>
        </p:txBody>
      </p:sp>
      <p:sp>
        <p:nvSpPr>
          <p:cNvPr id="26" name="Text 3">
            <a:extLst>
              <a:ext uri="{FF2B5EF4-FFF2-40B4-BE49-F238E27FC236}">
                <a16:creationId xmlns:a16="http://schemas.microsoft.com/office/drawing/2014/main" id="{502AAB97-DC4D-CDF9-AE28-30903D32B768}"/>
              </a:ext>
            </a:extLst>
          </p:cNvPr>
          <p:cNvSpPr/>
          <p:nvPr/>
        </p:nvSpPr>
        <p:spPr>
          <a:xfrm>
            <a:off x="1005840" y="2468880"/>
            <a:ext cx="6080760" cy="182880"/>
          </a:xfrm>
          <a:prstGeom prst="rect">
            <a:avLst/>
          </a:prstGeom>
          <a:noFill/>
          <a:ln/>
        </p:spPr>
        <p:txBody>
          <a:bodyPr wrap="square" lIns="0" tIns="0" rIns="0" bIns="0" rtlCol="0" anchor="t"/>
          <a:lstStyle/>
          <a:p>
            <a:pPr marL="0" indent="0" algn="l">
              <a:buNone/>
            </a:pPr>
            <a:r>
              <a:rPr lang="en-US" sz="1100" b="1" dirty="0">
                <a:solidFill>
                  <a:srgbClr val="1E1E1E"/>
                </a:solidFill>
                <a:latin typeface="Calibri" pitchFamily="34" charset="0"/>
                <a:ea typeface="Calibri" pitchFamily="34" charset="-122"/>
                <a:cs typeface="Calibri" pitchFamily="34" charset="-120"/>
              </a:rPr>
              <a:t>—  Anonymous Seller</a:t>
            </a:r>
            <a:endParaRPr lang="en-US" sz="1100" dirty="0"/>
          </a:p>
        </p:txBody>
      </p:sp>
      <p:sp>
        <p:nvSpPr>
          <p:cNvPr id="27" name="Shape 4">
            <a:extLst>
              <a:ext uri="{FF2B5EF4-FFF2-40B4-BE49-F238E27FC236}">
                <a16:creationId xmlns:a16="http://schemas.microsoft.com/office/drawing/2014/main" id="{ADDDB60D-F38F-EC14-6864-587588112656}"/>
              </a:ext>
            </a:extLst>
          </p:cNvPr>
          <p:cNvSpPr/>
          <p:nvPr/>
        </p:nvSpPr>
        <p:spPr>
          <a:xfrm>
            <a:off x="1005840" y="2787091"/>
            <a:ext cx="5486400" cy="3658"/>
          </a:xfrm>
          <a:prstGeom prst="rect">
            <a:avLst/>
          </a:prstGeom>
          <a:solidFill>
            <a:srgbClr val="CCCCCC"/>
          </a:solidFill>
          <a:ln/>
        </p:spPr>
        <p:txBody>
          <a:bodyPr/>
          <a:lstStyle/>
          <a:p>
            <a:endParaRPr lang="en-US"/>
          </a:p>
        </p:txBody>
      </p:sp>
      <p:sp>
        <p:nvSpPr>
          <p:cNvPr id="28" name="Text 9">
            <a:extLst>
              <a:ext uri="{FF2B5EF4-FFF2-40B4-BE49-F238E27FC236}">
                <a16:creationId xmlns:a16="http://schemas.microsoft.com/office/drawing/2014/main" id="{8F077F3C-57DA-99C2-936F-EBE52FF228F6}"/>
              </a:ext>
            </a:extLst>
          </p:cNvPr>
          <p:cNvSpPr/>
          <p:nvPr/>
        </p:nvSpPr>
        <p:spPr>
          <a:xfrm>
            <a:off x="685800" y="3931920"/>
            <a:ext cx="320040" cy="320040"/>
          </a:xfrm>
          <a:prstGeom prst="rect">
            <a:avLst/>
          </a:prstGeom>
          <a:noFill/>
          <a:ln/>
        </p:spPr>
        <p:txBody>
          <a:bodyPr wrap="square" lIns="0" tIns="0" rIns="0" bIns="0" rtlCol="0" anchor="ctr"/>
          <a:lstStyle/>
          <a:p>
            <a:pPr marL="0" indent="0">
              <a:buNone/>
            </a:pPr>
            <a:r>
              <a:rPr lang="en-US" sz="2400" b="1">
                <a:solidFill>
                  <a:srgbClr val="888888"/>
                </a:solidFill>
                <a:latin typeface="Georgia" pitchFamily="34" charset="0"/>
                <a:ea typeface="Georgia" pitchFamily="34" charset="-122"/>
                <a:cs typeface="Georgia" pitchFamily="34" charset="-120"/>
              </a:rPr>
              <a:t>“</a:t>
            </a:r>
            <a:endParaRPr lang="en-US" sz="2400"/>
          </a:p>
        </p:txBody>
      </p:sp>
      <p:sp>
        <p:nvSpPr>
          <p:cNvPr id="29" name="Text 10">
            <a:extLst>
              <a:ext uri="{FF2B5EF4-FFF2-40B4-BE49-F238E27FC236}">
                <a16:creationId xmlns:a16="http://schemas.microsoft.com/office/drawing/2014/main" id="{DA0B842A-E1A1-73FF-8288-6282A86F93E3}"/>
              </a:ext>
            </a:extLst>
          </p:cNvPr>
          <p:cNvSpPr/>
          <p:nvPr/>
        </p:nvSpPr>
        <p:spPr>
          <a:xfrm>
            <a:off x="1005840" y="3954780"/>
            <a:ext cx="6080760" cy="502920"/>
          </a:xfrm>
          <a:prstGeom prst="rect">
            <a:avLst/>
          </a:prstGeom>
          <a:noFill/>
          <a:ln/>
        </p:spPr>
        <p:txBody>
          <a:bodyPr wrap="square" lIns="0" tIns="0" rIns="0" bIns="0" rtlCol="0" anchor="t"/>
          <a:lstStyle/>
          <a:p>
            <a:pPr marL="0" indent="0" algn="l">
              <a:lnSpc>
                <a:spcPct val="130000"/>
              </a:lnSpc>
              <a:buNone/>
            </a:pPr>
            <a:r>
              <a:rPr lang="en-US" sz="1200" i="1" dirty="0">
                <a:solidFill>
                  <a:srgbClr val="3A3A3A"/>
                </a:solidFill>
                <a:latin typeface="Calibri" pitchFamily="34" charset="0"/>
                <a:ea typeface="Calibri" pitchFamily="34" charset="-122"/>
                <a:cs typeface="Calibri" pitchFamily="34" charset="-120"/>
              </a:rPr>
              <a:t>Michael is very knowledgeable about the areas he represents. He's honest, straightforward, and patient. His goal is to add value and make sure you make the best decision possible.</a:t>
            </a:r>
            <a:endParaRPr lang="en-US" sz="1200" dirty="0"/>
          </a:p>
        </p:txBody>
      </p:sp>
      <p:sp>
        <p:nvSpPr>
          <p:cNvPr id="30" name="Text 11">
            <a:extLst>
              <a:ext uri="{FF2B5EF4-FFF2-40B4-BE49-F238E27FC236}">
                <a16:creationId xmlns:a16="http://schemas.microsoft.com/office/drawing/2014/main" id="{EA1D0D1C-486A-0B60-AF11-A202607D6CC9}"/>
              </a:ext>
            </a:extLst>
          </p:cNvPr>
          <p:cNvSpPr/>
          <p:nvPr/>
        </p:nvSpPr>
        <p:spPr>
          <a:xfrm>
            <a:off x="1005840" y="4480560"/>
            <a:ext cx="6080760" cy="182880"/>
          </a:xfrm>
          <a:prstGeom prst="rect">
            <a:avLst/>
          </a:prstGeom>
          <a:noFill/>
          <a:ln/>
        </p:spPr>
        <p:txBody>
          <a:bodyPr wrap="square" lIns="0" tIns="0" rIns="0" bIns="0" rtlCol="0" anchor="t"/>
          <a:lstStyle/>
          <a:p>
            <a:pPr marL="0" indent="0" algn="l">
              <a:buNone/>
            </a:pPr>
            <a:r>
              <a:rPr lang="en-US" sz="1100" b="1" dirty="0">
                <a:solidFill>
                  <a:srgbClr val="1E1E1E"/>
                </a:solidFill>
                <a:latin typeface="Calibri" pitchFamily="34" charset="0"/>
                <a:ea typeface="Calibri" pitchFamily="34" charset="-122"/>
                <a:cs typeface="Calibri" pitchFamily="34" charset="-120"/>
              </a:rPr>
              <a:t>—  John &amp; Ashley S.</a:t>
            </a:r>
            <a:endParaRPr lang="en-US" sz="1100" dirty="0"/>
          </a:p>
        </p:txBody>
      </p:sp>
      <p:sp>
        <p:nvSpPr>
          <p:cNvPr id="31" name="Text 9">
            <a:extLst>
              <a:ext uri="{FF2B5EF4-FFF2-40B4-BE49-F238E27FC236}">
                <a16:creationId xmlns:a16="http://schemas.microsoft.com/office/drawing/2014/main" id="{86025359-63DB-76C7-9326-4F6CB7BEA4A7}"/>
              </a:ext>
            </a:extLst>
          </p:cNvPr>
          <p:cNvSpPr/>
          <p:nvPr/>
        </p:nvSpPr>
        <p:spPr>
          <a:xfrm>
            <a:off x="685800" y="6949440"/>
            <a:ext cx="320040" cy="320040"/>
          </a:xfrm>
          <a:prstGeom prst="rect">
            <a:avLst/>
          </a:prstGeom>
          <a:noFill/>
          <a:ln/>
        </p:spPr>
        <p:txBody>
          <a:bodyPr wrap="square" lIns="0" tIns="0" rIns="0" bIns="0" rtlCol="0" anchor="ctr"/>
          <a:lstStyle/>
          <a:p>
            <a:pPr marL="0" indent="0">
              <a:buNone/>
            </a:pPr>
            <a:r>
              <a:rPr lang="en-US" sz="2400" b="1">
                <a:solidFill>
                  <a:srgbClr val="888888"/>
                </a:solidFill>
                <a:latin typeface="Georgia" pitchFamily="34" charset="0"/>
                <a:ea typeface="Georgia" pitchFamily="34" charset="-122"/>
                <a:cs typeface="Georgia" pitchFamily="34" charset="-120"/>
              </a:rPr>
              <a:t>“</a:t>
            </a:r>
            <a:endParaRPr lang="en-US" sz="2400"/>
          </a:p>
        </p:txBody>
      </p:sp>
      <p:sp>
        <p:nvSpPr>
          <p:cNvPr id="32" name="Text 10">
            <a:extLst>
              <a:ext uri="{FF2B5EF4-FFF2-40B4-BE49-F238E27FC236}">
                <a16:creationId xmlns:a16="http://schemas.microsoft.com/office/drawing/2014/main" id="{22D714A4-E92C-B193-87BA-83918F292D62}"/>
              </a:ext>
            </a:extLst>
          </p:cNvPr>
          <p:cNvSpPr/>
          <p:nvPr/>
        </p:nvSpPr>
        <p:spPr>
          <a:xfrm>
            <a:off x="1005840" y="6972300"/>
            <a:ext cx="6080760" cy="502920"/>
          </a:xfrm>
          <a:prstGeom prst="rect">
            <a:avLst/>
          </a:prstGeom>
          <a:noFill/>
          <a:ln/>
        </p:spPr>
        <p:txBody>
          <a:bodyPr wrap="square" lIns="0" tIns="0" rIns="0" bIns="0" rtlCol="0" anchor="t"/>
          <a:lstStyle/>
          <a:p>
            <a:pPr marL="0" indent="0" algn="l">
              <a:lnSpc>
                <a:spcPct val="130000"/>
              </a:lnSpc>
              <a:buNone/>
            </a:pPr>
            <a:r>
              <a:rPr lang="en-US" sz="1200" i="1" dirty="0">
                <a:solidFill>
                  <a:srgbClr val="3A3A3A"/>
                </a:solidFill>
                <a:latin typeface="Calibri" pitchFamily="34" charset="0"/>
                <a:ea typeface="Calibri" pitchFamily="34" charset="-122"/>
                <a:cs typeface="Calibri" pitchFamily="34" charset="-120"/>
              </a:rPr>
              <a:t>Mike is the most persistent and patient realtor I ever worked with. He let us decide which house was right without pressure. He also sold our home quickly. Highly recommended!</a:t>
            </a:r>
            <a:endParaRPr lang="en-US" sz="1200" dirty="0"/>
          </a:p>
        </p:txBody>
      </p:sp>
      <p:sp>
        <p:nvSpPr>
          <p:cNvPr id="33" name="Text 11">
            <a:extLst>
              <a:ext uri="{FF2B5EF4-FFF2-40B4-BE49-F238E27FC236}">
                <a16:creationId xmlns:a16="http://schemas.microsoft.com/office/drawing/2014/main" id="{308509C9-9F90-ADDE-2F3F-BCF5FFE9915F}"/>
              </a:ext>
            </a:extLst>
          </p:cNvPr>
          <p:cNvSpPr/>
          <p:nvPr/>
        </p:nvSpPr>
        <p:spPr>
          <a:xfrm>
            <a:off x="1005840" y="7498080"/>
            <a:ext cx="6080760" cy="182880"/>
          </a:xfrm>
          <a:prstGeom prst="rect">
            <a:avLst/>
          </a:prstGeom>
          <a:noFill/>
          <a:ln/>
        </p:spPr>
        <p:txBody>
          <a:bodyPr wrap="square" lIns="0" tIns="0" rIns="0" bIns="0" rtlCol="0" anchor="t"/>
          <a:lstStyle/>
          <a:p>
            <a:pPr marL="0" indent="0" algn="l">
              <a:buNone/>
            </a:pPr>
            <a:r>
              <a:rPr lang="en-US" sz="1100" b="1" dirty="0">
                <a:solidFill>
                  <a:srgbClr val="1E1E1E"/>
                </a:solidFill>
                <a:latin typeface="Calibri" pitchFamily="34" charset="0"/>
                <a:ea typeface="Calibri" pitchFamily="34" charset="-122"/>
                <a:cs typeface="Calibri" pitchFamily="34" charset="-120"/>
              </a:rPr>
              <a:t>—  Tom &amp; Marci K.</a:t>
            </a:r>
            <a:endParaRPr lang="en-US" sz="1100" dirty="0"/>
          </a:p>
        </p:txBody>
      </p:sp>
      <p:sp>
        <p:nvSpPr>
          <p:cNvPr id="34" name="Text 5">
            <a:extLst>
              <a:ext uri="{FF2B5EF4-FFF2-40B4-BE49-F238E27FC236}">
                <a16:creationId xmlns:a16="http://schemas.microsoft.com/office/drawing/2014/main" id="{2F45B39E-BF3D-48C2-42FF-A6CC3592D45C}"/>
              </a:ext>
            </a:extLst>
          </p:cNvPr>
          <p:cNvSpPr/>
          <p:nvPr/>
        </p:nvSpPr>
        <p:spPr>
          <a:xfrm>
            <a:off x="685800" y="7955280"/>
            <a:ext cx="320040" cy="320040"/>
          </a:xfrm>
          <a:prstGeom prst="rect">
            <a:avLst/>
          </a:prstGeom>
          <a:noFill/>
          <a:ln/>
        </p:spPr>
        <p:txBody>
          <a:bodyPr wrap="square" lIns="0" tIns="0" rIns="0" bIns="0" rtlCol="0" anchor="ctr"/>
          <a:lstStyle/>
          <a:p>
            <a:pPr marL="0" indent="0">
              <a:buNone/>
            </a:pPr>
            <a:endParaRPr lang="en-US" sz="2400" dirty="0"/>
          </a:p>
        </p:txBody>
      </p:sp>
      <p:sp>
        <p:nvSpPr>
          <p:cNvPr id="38" name="Text 5">
            <a:extLst>
              <a:ext uri="{FF2B5EF4-FFF2-40B4-BE49-F238E27FC236}">
                <a16:creationId xmlns:a16="http://schemas.microsoft.com/office/drawing/2014/main" id="{E1E83F22-268C-1625-F75C-4C9496578CC8}"/>
              </a:ext>
            </a:extLst>
          </p:cNvPr>
          <p:cNvSpPr/>
          <p:nvPr/>
        </p:nvSpPr>
        <p:spPr>
          <a:xfrm>
            <a:off x="685800" y="5943600"/>
            <a:ext cx="320040" cy="320040"/>
          </a:xfrm>
          <a:prstGeom prst="rect">
            <a:avLst/>
          </a:prstGeom>
          <a:noFill/>
          <a:ln/>
        </p:spPr>
        <p:txBody>
          <a:bodyPr wrap="square" lIns="0" tIns="0" rIns="0" bIns="0" rtlCol="0" anchor="ctr"/>
          <a:lstStyle/>
          <a:p>
            <a:pPr marL="0" indent="0">
              <a:buNone/>
            </a:pPr>
            <a:r>
              <a:rPr lang="en-US" sz="2400" b="1">
                <a:solidFill>
                  <a:srgbClr val="888888"/>
                </a:solidFill>
                <a:latin typeface="Georgia" pitchFamily="34" charset="0"/>
                <a:ea typeface="Georgia" pitchFamily="34" charset="-122"/>
                <a:cs typeface="Georgia" pitchFamily="34" charset="-120"/>
              </a:rPr>
              <a:t>“</a:t>
            </a:r>
            <a:endParaRPr lang="en-US" sz="2400"/>
          </a:p>
        </p:txBody>
      </p:sp>
      <p:sp>
        <p:nvSpPr>
          <p:cNvPr id="39" name="Text 6">
            <a:extLst>
              <a:ext uri="{FF2B5EF4-FFF2-40B4-BE49-F238E27FC236}">
                <a16:creationId xmlns:a16="http://schemas.microsoft.com/office/drawing/2014/main" id="{2FA7C2CE-BA97-2F4C-5890-E59D176E70A1}"/>
              </a:ext>
            </a:extLst>
          </p:cNvPr>
          <p:cNvSpPr/>
          <p:nvPr/>
        </p:nvSpPr>
        <p:spPr>
          <a:xfrm>
            <a:off x="1005840" y="5966460"/>
            <a:ext cx="6080760" cy="502920"/>
          </a:xfrm>
          <a:prstGeom prst="rect">
            <a:avLst/>
          </a:prstGeom>
          <a:noFill/>
          <a:ln/>
        </p:spPr>
        <p:txBody>
          <a:bodyPr wrap="square" lIns="0" tIns="0" rIns="0" bIns="0" rtlCol="0" anchor="t"/>
          <a:lstStyle/>
          <a:p>
            <a:pPr marL="0" indent="0" algn="l">
              <a:lnSpc>
                <a:spcPct val="130000"/>
              </a:lnSpc>
              <a:buNone/>
            </a:pPr>
            <a:r>
              <a:rPr lang="en-US" sz="1200" i="1" dirty="0">
                <a:solidFill>
                  <a:srgbClr val="3A3A3A"/>
                </a:solidFill>
                <a:latin typeface="Calibri" pitchFamily="34" charset="0"/>
                <a:ea typeface="Calibri" pitchFamily="34" charset="-122"/>
                <a:cs typeface="Calibri" pitchFamily="34" charset="-120"/>
              </a:rPr>
              <a:t>Paul is a consummate professional and quite frankly the best realtor I've ever worked with. He sold my home in a tight market at the price we needed. Paul is my go-to guy.</a:t>
            </a:r>
            <a:endParaRPr lang="en-US" sz="1200" dirty="0"/>
          </a:p>
        </p:txBody>
      </p:sp>
      <p:sp>
        <p:nvSpPr>
          <p:cNvPr id="40" name="Text 7">
            <a:extLst>
              <a:ext uri="{FF2B5EF4-FFF2-40B4-BE49-F238E27FC236}">
                <a16:creationId xmlns:a16="http://schemas.microsoft.com/office/drawing/2014/main" id="{67D89955-CC26-3774-ACF7-5C12FD0CF073}"/>
              </a:ext>
            </a:extLst>
          </p:cNvPr>
          <p:cNvSpPr/>
          <p:nvPr/>
        </p:nvSpPr>
        <p:spPr>
          <a:xfrm>
            <a:off x="1005840" y="6492240"/>
            <a:ext cx="6080760" cy="182880"/>
          </a:xfrm>
          <a:prstGeom prst="rect">
            <a:avLst/>
          </a:prstGeom>
          <a:noFill/>
          <a:ln/>
        </p:spPr>
        <p:txBody>
          <a:bodyPr wrap="square" lIns="0" tIns="0" rIns="0" bIns="0" rtlCol="0" anchor="t"/>
          <a:lstStyle/>
          <a:p>
            <a:pPr marL="0" indent="0" algn="l">
              <a:buNone/>
            </a:pPr>
            <a:r>
              <a:rPr lang="en-US" sz="1100" b="1" dirty="0">
                <a:solidFill>
                  <a:srgbClr val="1E1E1E"/>
                </a:solidFill>
                <a:latin typeface="Calibri" pitchFamily="34" charset="0"/>
                <a:ea typeface="Calibri" pitchFamily="34" charset="-122"/>
                <a:cs typeface="Calibri" pitchFamily="34" charset="-120"/>
              </a:rPr>
              <a:t>—  CW (Bill) Colburn</a:t>
            </a:r>
            <a:endParaRPr lang="en-US" sz="1100" dirty="0"/>
          </a:p>
        </p:txBody>
      </p:sp>
      <p:sp>
        <p:nvSpPr>
          <p:cNvPr id="41" name="Shape 8">
            <a:extLst>
              <a:ext uri="{FF2B5EF4-FFF2-40B4-BE49-F238E27FC236}">
                <a16:creationId xmlns:a16="http://schemas.microsoft.com/office/drawing/2014/main" id="{8E8FB7A5-70EC-330B-33A9-E45720010C19}"/>
              </a:ext>
            </a:extLst>
          </p:cNvPr>
          <p:cNvSpPr/>
          <p:nvPr/>
        </p:nvSpPr>
        <p:spPr>
          <a:xfrm>
            <a:off x="1005840" y="6810451"/>
            <a:ext cx="5486400" cy="3658"/>
          </a:xfrm>
          <a:prstGeom prst="rect">
            <a:avLst/>
          </a:prstGeom>
          <a:solidFill>
            <a:srgbClr val="CCCCCC"/>
          </a:solidFill>
          <a:ln/>
        </p:spPr>
        <p:txBody>
          <a:bodyPr/>
          <a:lstStyle/>
          <a:p>
            <a:endParaRPr lang="en-US"/>
          </a:p>
        </p:txBody>
      </p:sp>
      <p:sp>
        <p:nvSpPr>
          <p:cNvPr id="42" name="Shape 8">
            <a:extLst>
              <a:ext uri="{FF2B5EF4-FFF2-40B4-BE49-F238E27FC236}">
                <a16:creationId xmlns:a16="http://schemas.microsoft.com/office/drawing/2014/main" id="{2E4215E8-1B1F-7B81-D3FB-EDCB3D5856F9}"/>
              </a:ext>
            </a:extLst>
          </p:cNvPr>
          <p:cNvSpPr/>
          <p:nvPr/>
        </p:nvSpPr>
        <p:spPr>
          <a:xfrm>
            <a:off x="1005840" y="7816291"/>
            <a:ext cx="5486400" cy="3658"/>
          </a:xfrm>
          <a:prstGeom prst="rect">
            <a:avLst/>
          </a:prstGeom>
          <a:solidFill>
            <a:srgbClr val="CCCCCC"/>
          </a:solidFill>
          <a:ln/>
        </p:spPr>
        <p:txBody>
          <a:bodyPr/>
          <a:lstStyle/>
          <a:p>
            <a:endParaRPr lang="en-US"/>
          </a:p>
        </p:txBody>
      </p:sp>
      <p:sp>
        <p:nvSpPr>
          <p:cNvPr id="43" name="Text 6">
            <a:extLst>
              <a:ext uri="{FF2B5EF4-FFF2-40B4-BE49-F238E27FC236}">
                <a16:creationId xmlns:a16="http://schemas.microsoft.com/office/drawing/2014/main" id="{987E3D2A-AE52-5839-5188-36C170BB716D}"/>
              </a:ext>
            </a:extLst>
          </p:cNvPr>
          <p:cNvSpPr/>
          <p:nvPr/>
        </p:nvSpPr>
        <p:spPr>
          <a:xfrm>
            <a:off x="915305" y="8094269"/>
            <a:ext cx="6080760" cy="1686152"/>
          </a:xfrm>
          <a:prstGeom prst="rect">
            <a:avLst/>
          </a:prstGeom>
          <a:noFill/>
          <a:ln/>
        </p:spPr>
        <p:txBody>
          <a:bodyPr wrap="square" lIns="0" tIns="0" rIns="0" bIns="0" rtlCol="0" anchor="t"/>
          <a:lstStyle/>
          <a:p>
            <a:pPr algn="ctr"/>
            <a:r>
              <a:rPr lang="en-US" sz="1200" i="1" dirty="0">
                <a:solidFill>
                  <a:schemeClr val="bg2">
                    <a:lumMod val="25000"/>
                  </a:schemeClr>
                </a:solidFill>
              </a:rPr>
              <a:t>We take pride in delivering exceptional results for every client we serve. Whether you're buying, selling, or simply exploring the market, we’re committed to providing a seamless experience backed by local expertise and proven success.</a:t>
            </a:r>
          </a:p>
          <a:p>
            <a:pPr algn="ctr"/>
            <a:endParaRPr lang="en-US" sz="1200" i="1" dirty="0">
              <a:solidFill>
                <a:schemeClr val="bg2">
                  <a:lumMod val="25000"/>
                </a:schemeClr>
              </a:solidFill>
            </a:endParaRPr>
          </a:p>
          <a:p>
            <a:pPr algn="ctr"/>
            <a:r>
              <a:rPr lang="en-US" sz="1200" b="1" dirty="0">
                <a:solidFill>
                  <a:schemeClr val="bg2">
                    <a:lumMod val="25000"/>
                  </a:schemeClr>
                </a:solidFill>
              </a:rPr>
              <a:t>Paul 239.877.4450, Pete 239.595.6500, Michael 239.431.0321</a:t>
            </a:r>
          </a:p>
          <a:p>
            <a:pPr algn="ctr"/>
            <a:endParaRPr lang="en-US" sz="1200" i="1" dirty="0">
              <a:solidFill>
                <a:schemeClr val="bg2">
                  <a:lumMod val="25000"/>
                </a:schemeClr>
              </a:solidFill>
            </a:endParaRPr>
          </a:p>
          <a:p>
            <a:pPr algn="ctr"/>
            <a:r>
              <a:rPr lang="en-US" sz="1200" i="1" dirty="0">
                <a:solidFill>
                  <a:schemeClr val="bg2">
                    <a:lumMod val="25000"/>
                  </a:schemeClr>
                </a:solidFill>
              </a:rPr>
              <a:t>We’re here to help you navigate the market with confidence and achieve exceptional results</a:t>
            </a:r>
            <a:r>
              <a:rPr lang="en-US" sz="1200" dirty="0">
                <a:solidFill>
                  <a:schemeClr val="bg2">
                    <a:lumMod val="25000"/>
                  </a:schemeClr>
                </a:solidFill>
              </a:rPr>
              <a:t>.</a:t>
            </a:r>
          </a:p>
        </p:txBody>
      </p:sp>
      <p:sp>
        <p:nvSpPr>
          <p:cNvPr id="50" name="Divider 50"/>
          <p:cNvSpPr/>
          <p:nvPr/>
        </p:nvSpPr>
        <p:spPr>
          <a:xfrm>
            <a:off x="1005840" y="4798771"/>
            <a:ext cx="5486400" cy="3658"/>
          </a:xfrm>
          <a:prstGeom prst="rect">
            <a:avLst/>
          </a:prstGeom>
          <a:solidFill>
            <a:srgbClr val="CCCCCC"/>
          </a:solidFill>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232</TotalTime>
  <Words>1658</Words>
  <Application>Microsoft Office PowerPoint</Application>
  <PresentationFormat>Custom</PresentationFormat>
  <Paragraphs>142</Paragraphs>
  <Slides>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Aptos</vt:lpstr>
      <vt:lpstr>Aptos Display</vt:lpstr>
      <vt:lpstr>Aptos Light</vt:lpstr>
      <vt:lpstr>Arial</vt:lpstr>
      <vt:lpstr>Calibri</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Giacalone</dc:creator>
  <cp:lastModifiedBy>Michael Giacalone</cp:lastModifiedBy>
  <cp:revision>2</cp:revision>
  <cp:lastPrinted>2026-05-13T01:22:52Z</cp:lastPrinted>
  <dcterms:created xsi:type="dcterms:W3CDTF">2026-05-12T19:37:51Z</dcterms:created>
  <dcterms:modified xsi:type="dcterms:W3CDTF">2026-05-13T01:24:58Z</dcterms:modified>
</cp:coreProperties>
</file>